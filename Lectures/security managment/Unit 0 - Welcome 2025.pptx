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38"/>
  </p:notesMasterIdLst>
  <p:handoutMasterIdLst>
    <p:handoutMasterId r:id="rId39"/>
  </p:handoutMasterIdLst>
  <p:sldIdLst>
    <p:sldId id="257" r:id="rId2"/>
    <p:sldId id="277" r:id="rId3"/>
    <p:sldId id="260" r:id="rId4"/>
    <p:sldId id="308" r:id="rId5"/>
    <p:sldId id="309" r:id="rId6"/>
    <p:sldId id="282" r:id="rId7"/>
    <p:sldId id="310" r:id="rId8"/>
    <p:sldId id="314" r:id="rId9"/>
    <p:sldId id="313" r:id="rId10"/>
    <p:sldId id="315" r:id="rId11"/>
    <p:sldId id="321" r:id="rId12"/>
    <p:sldId id="281" r:id="rId13"/>
    <p:sldId id="322" r:id="rId14"/>
    <p:sldId id="311" r:id="rId15"/>
    <p:sldId id="275" r:id="rId16"/>
    <p:sldId id="283" r:id="rId17"/>
    <p:sldId id="284" r:id="rId18"/>
    <p:sldId id="295" r:id="rId19"/>
    <p:sldId id="327" r:id="rId20"/>
    <p:sldId id="324" r:id="rId21"/>
    <p:sldId id="278" r:id="rId22"/>
    <p:sldId id="312" r:id="rId23"/>
    <p:sldId id="262" r:id="rId24"/>
    <p:sldId id="263" r:id="rId25"/>
    <p:sldId id="264" r:id="rId26"/>
    <p:sldId id="265" r:id="rId27"/>
    <p:sldId id="266" r:id="rId28"/>
    <p:sldId id="326" r:id="rId29"/>
    <p:sldId id="325" r:id="rId30"/>
    <p:sldId id="316" r:id="rId31"/>
    <p:sldId id="317" r:id="rId32"/>
    <p:sldId id="319" r:id="rId33"/>
    <p:sldId id="320" r:id="rId34"/>
    <p:sldId id="329" r:id="rId35"/>
    <p:sldId id="323" r:id="rId36"/>
    <p:sldId id="328" r:id="rId37"/>
  </p:sldIdLst>
  <p:sldSz cx="9144000" cy="5143500" type="screen16x9"/>
  <p:notesSz cx="6858000" cy="9144000"/>
  <p:embeddedFontLst>
    <p:embeddedFont>
      <p:font typeface="corbel" panose="020B0503020204020204" pitchFamily="34" charset="0"/>
      <p:regular r:id="rId40"/>
      <p:bold r:id="rId41"/>
      <p:italic r:id="rId42"/>
      <p:boldItalic r:id="rId43"/>
    </p:embeddedFont>
    <p:embeddedFont>
      <p:font typeface="corbel" panose="020B0503020204020204" pitchFamily="34" charset="0"/>
      <p:regular r:id="rId40"/>
      <p:bold r:id="rId41"/>
      <p:italic r:id="rId42"/>
      <p:boldItalic r:id="rId43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  <p15:guide id="3" orient="horz" pos="162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1D23"/>
    <a:srgbClr val="DA5120"/>
    <a:srgbClr val="424A4F"/>
    <a:srgbClr val="D75020"/>
    <a:srgbClr val="FFFF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0909" autoAdjust="0"/>
    <p:restoredTop sz="75070"/>
  </p:normalViewPr>
  <p:slideViewPr>
    <p:cSldViewPr snapToGrid="0" snapToObjects="1" showGuides="1">
      <p:cViewPr varScale="1">
        <p:scale>
          <a:sx n="122" d="100"/>
          <a:sy n="122" d="100"/>
        </p:scale>
        <p:origin x="576" y="192"/>
      </p:cViewPr>
      <p:guideLst>
        <p:guide orient="horz" pos="2160"/>
        <p:guide pos="2880"/>
        <p:guide orient="horz" pos="162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>
        <p:scale>
          <a:sx n="120" d="100"/>
          <a:sy n="120" d="100"/>
        </p:scale>
        <p:origin x="3472" y="-2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handoutMaster" Target="handoutMasters/handout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4.fntdata"/><Relationship Id="rId48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Relationship Id="rId46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font" Target="fonts/font2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eddington, J" userId="fb0b6ad9-44c8-420a-8f10-c600885efdfb" providerId="ADAL" clId="{735FB4A6-73EE-5457-925D-6D6322F4FB5E}"/>
    <pc:docChg chg="mod modSld">
      <pc:chgData name="Reddington, J" userId="fb0b6ad9-44c8-420a-8f10-c600885efdfb" providerId="ADAL" clId="{735FB4A6-73EE-5457-925D-6D6322F4FB5E}" dt="2026-01-16T14:32:55.503" v="2" actId="33475"/>
      <pc:docMkLst>
        <pc:docMk/>
      </pc:docMkLst>
      <pc:sldChg chg="modSp mod">
        <pc:chgData name="Reddington, J" userId="fb0b6ad9-44c8-420a-8f10-c600885efdfb" providerId="ADAL" clId="{735FB4A6-73EE-5457-925D-6D6322F4FB5E}" dt="2026-01-16T14:32:45.731" v="1" actId="1036"/>
        <pc:sldMkLst>
          <pc:docMk/>
          <pc:sldMk cId="0" sldId="262"/>
        </pc:sldMkLst>
        <pc:picChg chg="mod">
          <ac:chgData name="Reddington, J" userId="fb0b6ad9-44c8-420a-8f10-c600885efdfb" providerId="ADAL" clId="{735FB4A6-73EE-5457-925D-6D6322F4FB5E}" dt="2026-01-16T14:32:45.731" v="1" actId="1036"/>
          <ac:picMkLst>
            <pc:docMk/>
            <pc:sldMk cId="0" sldId="262"/>
            <ac:picMk id="233" creationId="{00000000-0000-0000-0000-000000000000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-1"/>
            <a:ext cx="2437260" cy="808239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0FA731-96C6-1C4F-A61E-653465578A10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8" name="Date Placeholder 2"/>
          <p:cNvSpPr>
            <a:spLocks noGrp="1"/>
          </p:cNvSpPr>
          <p:nvPr>
            <p:ph type="dt" sz="quarter" idx="1"/>
          </p:nvPr>
        </p:nvSpPr>
        <p:spPr>
          <a:xfrm>
            <a:off x="5739817" y="0"/>
            <a:ext cx="1118183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FE862-AA2E-A649-A23D-0AE53E0EBE06}" type="datetimeFigureOut">
              <a:rPr lang="en-US" smtClean="0"/>
              <a:t>1/16/26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1298885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0" y="8673460"/>
            <a:ext cx="68580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200"/>
            </a:lvl1pPr>
          </a:lstStyle>
          <a:p>
            <a:fld id="{D080ACEF-038B-C84F-B8C5-91258E241761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9" name="Date Placeholder 2"/>
          <p:cNvSpPr>
            <a:spLocks noGrp="1"/>
          </p:cNvSpPr>
          <p:nvPr>
            <p:ph type="dt" sz="quarter" idx="1"/>
          </p:nvPr>
        </p:nvSpPr>
        <p:spPr>
          <a:xfrm>
            <a:off x="5715000" y="0"/>
            <a:ext cx="1159132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6FE862-AA2E-A649-A23D-0AE53E0EBE06}" type="datetimeFigureOut">
              <a:rPr lang="en-US" smtClean="0"/>
              <a:t>1/16/26</a:t>
            </a:fld>
            <a:endParaRPr lang="en-GB" dirty="0"/>
          </a:p>
        </p:txBody>
      </p:sp>
      <p:pic>
        <p:nvPicPr>
          <p:cNvPr id="8" name="Picture 7" descr="RHUL_Master_logo_RGB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1853" y="8045128"/>
            <a:ext cx="1401034" cy="702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5983380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0ACEF-038B-C84F-B8C5-91258E241761}" type="slidenum">
              <a:rPr lang="en-GB" smtClean="0"/>
              <a:pPr/>
              <a:t>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3288547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0ACEF-038B-C84F-B8C5-91258E241761}" type="slidenum">
              <a:rPr lang="en-GB" smtClean="0"/>
              <a:pPr/>
              <a:t>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10563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0ACEF-038B-C84F-B8C5-91258E241761}" type="slidenum">
              <a:rPr lang="en-GB" smtClean="0"/>
              <a:pPr/>
              <a:t>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8169269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0ACEF-038B-C84F-B8C5-91258E241761}" type="slidenum">
              <a:rPr lang="en-GB" smtClean="0"/>
              <a:pPr/>
              <a:t>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800023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0ACEF-038B-C84F-B8C5-91258E241761}" type="slidenum">
              <a:rPr lang="en-GB" smtClean="0"/>
              <a:pPr/>
              <a:t>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727635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95325"/>
            <a:ext cx="6092825" cy="3427413"/>
          </a:xfrm>
          <a:prstGeom prst="rect">
            <a:avLst/>
          </a:prstGeom>
          <a:ln w="0">
            <a:noFill/>
          </a:ln>
        </p:spPr>
      </p:sp>
      <p:sp>
        <p:nvSpPr>
          <p:cNvPr id="358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81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GB" sz="2000" b="0" strike="noStrike" spc="-1" dirty="0">
              <a:latin typeface="Arial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0ACEF-038B-C84F-B8C5-91258E241761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7700345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0ACEF-038B-C84F-B8C5-91258E241761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37092685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0ACEF-038B-C84F-B8C5-91258E241761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9302009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0ACEF-038B-C84F-B8C5-91258E241761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23321570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0ACEF-038B-C84F-B8C5-91258E241761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13139554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6850"/>
          </a:xfrm>
          <a:prstGeom prst="rect">
            <a:avLst/>
          </a:prstGeom>
          <a:ln w="0">
            <a:noFill/>
          </a:ln>
        </p:spPr>
      </p:sp>
      <p:sp>
        <p:nvSpPr>
          <p:cNvPr id="356" name="PlaceHolder 2"/>
          <p:cNvSpPr>
            <a:spLocks noGrp="1"/>
          </p:cNvSpPr>
          <p:nvPr>
            <p:ph type="body"/>
          </p:nvPr>
        </p:nvSpPr>
        <p:spPr>
          <a:xfrm>
            <a:off x="720000" y="5078520"/>
            <a:ext cx="6046560" cy="651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6000" indent="-216000">
              <a:lnSpc>
                <a:spcPct val="100000"/>
              </a:lnSpc>
              <a:buNone/>
              <a:tabLst>
                <a:tab pos="0" algn="l"/>
              </a:tabLst>
            </a:pPr>
            <a:endParaRPr lang="en-GB" sz="2000" b="0" strike="noStrike" spc="-1" dirty="0">
              <a:latin typeface="Arial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0ACEF-038B-C84F-B8C5-91258E241761}" type="slidenum">
              <a:rPr lang="en-GB" smtClean="0"/>
              <a:pPr/>
              <a:t>13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8070855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0ACEF-038B-C84F-B8C5-91258E241761}" type="slidenum">
              <a:rPr lang="en-GB" smtClean="0"/>
              <a:pPr/>
              <a:t>14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654440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685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720000" y="5220000"/>
            <a:ext cx="6046560" cy="84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-215900">
              <a:lnSpc>
                <a:spcPct val="100000"/>
              </a:lnSpc>
              <a:buNone/>
              <a:tabLst>
                <a:tab pos="0" algn="l"/>
              </a:tabLst>
            </a:pPr>
            <a:endParaRPr lang="en-GB" sz="2000" b="0" strike="noStrike" spc="-1" dirty="0"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95325"/>
            <a:ext cx="6092825" cy="3427413"/>
          </a:xfrm>
          <a:prstGeom prst="rect">
            <a:avLst/>
          </a:prstGeom>
          <a:ln w="0">
            <a:noFill/>
          </a:ln>
        </p:spPr>
      </p:sp>
      <p:sp>
        <p:nvSpPr>
          <p:cNvPr id="36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GB" sz="2000" b="0" strike="noStrike" spc="-1" dirty="0">
              <a:latin typeface="Arial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0ACEF-038B-C84F-B8C5-91258E241761}" type="slidenum">
              <a:rPr lang="en-GB" smtClean="0"/>
              <a:pPr/>
              <a:t>17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211962603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0ACEF-038B-C84F-B8C5-91258E241761}" type="slidenum">
              <a:rPr lang="en-GB" smtClean="0"/>
              <a:pPr/>
              <a:t>18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812578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0ACEF-038B-C84F-B8C5-91258E241761}" type="slidenum">
              <a:rPr lang="en-GB" smtClean="0"/>
              <a:pPr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18110747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3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3112" cy="4006850"/>
          </a:xfrm>
          <a:prstGeom prst="rect">
            <a:avLst/>
          </a:prstGeom>
          <a:ln w="0">
            <a:noFill/>
          </a:ln>
        </p:spPr>
      </p:sp>
      <p:sp>
        <p:nvSpPr>
          <p:cNvPr id="344" name="PlaceHolder 2"/>
          <p:cNvSpPr>
            <a:spLocks noGrp="1"/>
          </p:cNvSpPr>
          <p:nvPr>
            <p:ph type="body"/>
          </p:nvPr>
        </p:nvSpPr>
        <p:spPr>
          <a:xfrm>
            <a:off x="720000" y="5220000"/>
            <a:ext cx="6046560" cy="8495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15900" indent="-215900">
              <a:lnSpc>
                <a:spcPct val="100000"/>
              </a:lnSpc>
              <a:buNone/>
              <a:tabLst>
                <a:tab pos="0" algn="l"/>
              </a:tabLst>
            </a:pPr>
            <a:endParaRPr lang="en-GB" sz="2000" b="0" strike="noStrike" spc="-1" dirty="0"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95325"/>
            <a:ext cx="6092825" cy="3427413"/>
          </a:xfrm>
          <a:prstGeom prst="rect">
            <a:avLst/>
          </a:prstGeom>
          <a:ln w="0">
            <a:noFill/>
          </a:ln>
        </p:spPr>
      </p:sp>
      <p:sp>
        <p:nvSpPr>
          <p:cNvPr id="350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GB" sz="2000" b="0" strike="noStrike" spc="-1" dirty="0">
              <a:latin typeface="Arial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0ACEF-038B-C84F-B8C5-91258E241761}" type="slidenum">
              <a:rPr lang="en-GB" smtClean="0"/>
              <a:pPr/>
              <a:t>22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82067741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317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GB" sz="2000" b="0" strike="noStrike" spc="-1" dirty="0">
              <a:latin typeface="Arial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31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GB" sz="2000" b="0" strike="noStrike" spc="-1" dirty="0">
              <a:latin typeface="Arial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321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GB" sz="2000" b="0" strike="noStrike" spc="-1" dirty="0">
              <a:latin typeface="Arial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2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32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6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GB" sz="2000" b="0" strike="noStrike" spc="-1" dirty="0">
              <a:latin typeface="Arial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217488" y="812800"/>
            <a:ext cx="7124700" cy="4008438"/>
          </a:xfrm>
          <a:prstGeom prst="rect">
            <a:avLst/>
          </a:prstGeom>
          <a:ln w="0">
            <a:noFill/>
          </a:ln>
        </p:spPr>
      </p:sp>
      <p:sp>
        <p:nvSpPr>
          <p:cNvPr id="325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GB" sz="2000" b="0" strike="noStrike" spc="-1" dirty="0">
              <a:latin typeface="Arial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PlaceHolder 1"/>
          <p:cNvSpPr>
            <a:spLocks noGrp="1" noRot="1" noChangeAspect="1"/>
          </p:cNvSpPr>
          <p:nvPr>
            <p:ph type="sldImg"/>
          </p:nvPr>
        </p:nvSpPr>
        <p:spPr>
          <a:xfrm>
            <a:off x="382588" y="695325"/>
            <a:ext cx="6092825" cy="3427413"/>
          </a:xfrm>
          <a:prstGeom prst="rect">
            <a:avLst/>
          </a:prstGeom>
          <a:ln w="0">
            <a:noFill/>
          </a:ln>
        </p:spPr>
      </p:sp>
      <p:sp>
        <p:nvSpPr>
          <p:cNvPr id="352" name="PlaceHolder 2"/>
          <p:cNvSpPr>
            <a:spLocks noGrp="1"/>
          </p:cNvSpPr>
          <p:nvPr>
            <p:ph type="body"/>
          </p:nvPr>
        </p:nvSpPr>
        <p:spPr>
          <a:xfrm>
            <a:off x="685800" y="434340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endParaRPr lang="en-GB" sz="2000" b="0" strike="noStrike" spc="-1" dirty="0">
              <a:latin typeface="Arial"/>
              <a:cs typeface="Arial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080ACEF-038B-C84F-B8C5-91258E241761}" type="slidenum">
              <a:rPr lang="en-GB" smtClean="0"/>
              <a:pPr/>
              <a:t>36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36060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over slide 1">
    <p:bg>
      <p:bgPr>
        <a:solidFill>
          <a:srgbClr val="424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70452" y="1490144"/>
            <a:ext cx="7806959" cy="1127161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>
              <a:defRPr sz="4500">
                <a:solidFill>
                  <a:schemeClr val="accent1"/>
                </a:solidFill>
              </a:defRPr>
            </a:lvl1pPr>
          </a:lstStyle>
          <a:p>
            <a:r>
              <a:rPr lang="en-GB" dirty="0"/>
              <a:t>Click to edit Master title style</a:t>
            </a:r>
          </a:p>
        </p:txBody>
      </p:sp>
      <p:grpSp>
        <p:nvGrpSpPr>
          <p:cNvPr id="10" name="Group 9"/>
          <p:cNvGrpSpPr/>
          <p:nvPr userDrawn="1"/>
        </p:nvGrpSpPr>
        <p:grpSpPr>
          <a:xfrm>
            <a:off x="0" y="3107625"/>
            <a:ext cx="9138506" cy="244967"/>
            <a:chOff x="10495" y="3091554"/>
            <a:chExt cx="9138506" cy="244967"/>
          </a:xfrm>
        </p:grpSpPr>
        <p:pic>
          <p:nvPicPr>
            <p:cNvPr id="12" name="Picture 11" descr="Music_Hall_Diagonal_6_long_lines_white-optimized1.png"/>
            <p:cNvPicPr>
              <a:picLocks noChangeAspect="1"/>
            </p:cNvPicPr>
            <p:nvPr userDrawn="1"/>
          </p:nvPicPr>
          <p:blipFill rotWithShape="1">
            <a:blip r:embed="rId2">
              <a:alphaModFix amt="4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609" t="1132" r="1609" b="50000"/>
            <a:stretch/>
          </p:blipFill>
          <p:spPr>
            <a:xfrm>
              <a:off x="2749476" y="3091554"/>
              <a:ext cx="6399525" cy="244967"/>
            </a:xfrm>
            <a:prstGeom prst="rect">
              <a:avLst/>
            </a:prstGeom>
          </p:spPr>
        </p:pic>
        <p:pic>
          <p:nvPicPr>
            <p:cNvPr id="13" name="Picture 12" descr="Music_Hall_Diagonal_6_long_lines_white-optimized1.png"/>
            <p:cNvPicPr>
              <a:picLocks noChangeAspect="1"/>
            </p:cNvPicPr>
            <p:nvPr userDrawn="1"/>
          </p:nvPicPr>
          <p:blipFill rotWithShape="1">
            <a:blip r:embed="rId2">
              <a:alphaModFix amt="4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894" r="3698" b="51131"/>
            <a:stretch/>
          </p:blipFill>
          <p:spPr>
            <a:xfrm>
              <a:off x="10495" y="3091554"/>
              <a:ext cx="2841940" cy="244967"/>
            </a:xfrm>
            <a:prstGeom prst="rect">
              <a:avLst/>
            </a:prstGeom>
          </p:spPr>
        </p:pic>
      </p:grpSp>
      <p:grpSp>
        <p:nvGrpSpPr>
          <p:cNvPr id="14" name="Group 13"/>
          <p:cNvGrpSpPr/>
          <p:nvPr userDrawn="1"/>
        </p:nvGrpSpPr>
        <p:grpSpPr>
          <a:xfrm>
            <a:off x="0" y="4253241"/>
            <a:ext cx="9138506" cy="244967"/>
            <a:chOff x="10495" y="3091554"/>
            <a:chExt cx="9138506" cy="244967"/>
          </a:xfrm>
        </p:grpSpPr>
        <p:pic>
          <p:nvPicPr>
            <p:cNvPr id="15" name="Picture 14" descr="Music_Hall_Diagonal_6_long_lines_white-optimized1.png"/>
            <p:cNvPicPr>
              <a:picLocks noChangeAspect="1"/>
            </p:cNvPicPr>
            <p:nvPr userDrawn="1"/>
          </p:nvPicPr>
          <p:blipFill rotWithShape="1">
            <a:blip r:embed="rId2">
              <a:alphaModFix amt="4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1609" t="1132" r="1609" b="50000"/>
            <a:stretch/>
          </p:blipFill>
          <p:spPr>
            <a:xfrm>
              <a:off x="2749476" y="3091554"/>
              <a:ext cx="6399525" cy="244967"/>
            </a:xfrm>
            <a:prstGeom prst="rect">
              <a:avLst/>
            </a:prstGeom>
          </p:spPr>
        </p:pic>
        <p:pic>
          <p:nvPicPr>
            <p:cNvPr id="16" name="Picture 15" descr="Music_Hall_Diagonal_6_long_lines_white-optimized1.png"/>
            <p:cNvPicPr>
              <a:picLocks noChangeAspect="1"/>
            </p:cNvPicPr>
            <p:nvPr userDrawn="1"/>
          </p:nvPicPr>
          <p:blipFill rotWithShape="1">
            <a:blip r:embed="rId2">
              <a:alphaModFix amt="4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894" r="3698" b="51131"/>
            <a:stretch/>
          </p:blipFill>
          <p:spPr>
            <a:xfrm>
              <a:off x="10495" y="3091554"/>
              <a:ext cx="2841940" cy="244967"/>
            </a:xfrm>
            <a:prstGeom prst="rect">
              <a:avLst/>
            </a:prstGeom>
          </p:spPr>
        </p:pic>
      </p:grpSp>
      <p:sp>
        <p:nvSpPr>
          <p:cNvPr id="9" name="Rectangle 8"/>
          <p:cNvSpPr/>
          <p:nvPr userDrawn="1"/>
        </p:nvSpPr>
        <p:spPr>
          <a:xfrm>
            <a:off x="1" y="3351821"/>
            <a:ext cx="9143999" cy="899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0453" y="3541241"/>
            <a:ext cx="5487504" cy="583924"/>
          </a:xfrm>
        </p:spPr>
        <p:txBody>
          <a:bodyPr/>
          <a:lstStyle>
            <a:lvl1pPr marL="0" indent="0" algn="l">
              <a:spcBef>
                <a:spcPts val="500"/>
              </a:spcBef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</a:p>
        </p:txBody>
      </p:sp>
      <p:pic>
        <p:nvPicPr>
          <p:cNvPr id="8" name="Picture 7" descr="RHULlogo_small_London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092" y="3351371"/>
            <a:ext cx="1801908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59629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ver slide 3">
    <p:bg>
      <p:bgPr>
        <a:solidFill>
          <a:srgbClr val="171D23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-794" y="0"/>
            <a:ext cx="9145588" cy="3099105"/>
          </a:xfrm>
          <a:noFill/>
        </p:spPr>
        <p:txBody>
          <a:bodyPr lIns="72000" tIns="72000"/>
          <a:lstStyle/>
          <a:p>
            <a:endParaRPr lang="en-GB" dirty="0"/>
          </a:p>
        </p:txBody>
      </p:sp>
      <p:grpSp>
        <p:nvGrpSpPr>
          <p:cNvPr id="10" name="Group 9"/>
          <p:cNvGrpSpPr/>
          <p:nvPr userDrawn="1"/>
        </p:nvGrpSpPr>
        <p:grpSpPr>
          <a:xfrm>
            <a:off x="-1" y="3099105"/>
            <a:ext cx="9152356" cy="249117"/>
            <a:chOff x="-8356" y="3302274"/>
            <a:chExt cx="9152356" cy="249117"/>
          </a:xfrm>
        </p:grpSpPr>
        <p:pic>
          <p:nvPicPr>
            <p:cNvPr id="12" name="Picture 11" descr="Music_Hall_Diagonal_6_long_lines-40%-optimized1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8546"/>
            <a:stretch/>
          </p:blipFill>
          <p:spPr>
            <a:xfrm>
              <a:off x="2115873" y="3302274"/>
              <a:ext cx="7028127" cy="249117"/>
            </a:xfrm>
            <a:prstGeom prst="rect">
              <a:avLst/>
            </a:prstGeom>
          </p:spPr>
        </p:pic>
        <p:pic>
          <p:nvPicPr>
            <p:cNvPr id="13" name="Picture 12" descr="Music_Hall_Diagonal_6_long_lines-40%-optimized1.png"/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022" r="3593" b="48546"/>
            <a:stretch/>
          </p:blipFill>
          <p:spPr>
            <a:xfrm>
              <a:off x="-8356" y="3302274"/>
              <a:ext cx="2135419" cy="249117"/>
            </a:xfrm>
            <a:prstGeom prst="rect">
              <a:avLst/>
            </a:prstGeom>
          </p:spPr>
        </p:pic>
      </p:grpSp>
      <p:grpSp>
        <p:nvGrpSpPr>
          <p:cNvPr id="14" name="Group 13"/>
          <p:cNvGrpSpPr/>
          <p:nvPr userDrawn="1"/>
        </p:nvGrpSpPr>
        <p:grpSpPr>
          <a:xfrm>
            <a:off x="-8356" y="4250953"/>
            <a:ext cx="9152356" cy="249117"/>
            <a:chOff x="-8356" y="3302274"/>
            <a:chExt cx="9152356" cy="249117"/>
          </a:xfrm>
        </p:grpSpPr>
        <p:pic>
          <p:nvPicPr>
            <p:cNvPr id="15" name="Picture 14" descr="Music_Hall_Diagonal_6_long_lines-40%-optimized1.png"/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48546"/>
            <a:stretch/>
          </p:blipFill>
          <p:spPr>
            <a:xfrm>
              <a:off x="2115873" y="3302274"/>
              <a:ext cx="7028127" cy="249117"/>
            </a:xfrm>
            <a:prstGeom prst="rect">
              <a:avLst/>
            </a:prstGeom>
          </p:spPr>
        </p:pic>
        <p:pic>
          <p:nvPicPr>
            <p:cNvPr id="16" name="Picture 15" descr="Music_Hall_Diagonal_6_long_lines-40%-optimized1.png"/>
            <p:cNvPicPr>
              <a:picLocks noChangeAspect="1"/>
            </p:cNvPicPr>
            <p:nvPr userDrawn="1"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6022" r="3593" b="48546"/>
            <a:stretch/>
          </p:blipFill>
          <p:spPr>
            <a:xfrm>
              <a:off x="-8356" y="3302274"/>
              <a:ext cx="2135419" cy="249117"/>
            </a:xfrm>
            <a:prstGeom prst="rect">
              <a:avLst/>
            </a:prstGeom>
          </p:spPr>
        </p:pic>
      </p:grpSp>
      <p:sp>
        <p:nvSpPr>
          <p:cNvPr id="6" name="Rectangle 5"/>
          <p:cNvSpPr/>
          <p:nvPr userDrawn="1"/>
        </p:nvSpPr>
        <p:spPr>
          <a:xfrm>
            <a:off x="1" y="3350091"/>
            <a:ext cx="9143999" cy="899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pic>
        <p:nvPicPr>
          <p:cNvPr id="8" name="Picture 7" descr="RHULlogo_small_London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092" y="3349641"/>
            <a:ext cx="1801908" cy="900000"/>
          </a:xfrm>
          <a:prstGeom prst="rect">
            <a:avLst/>
          </a:prstGeom>
        </p:spPr>
      </p:pic>
      <p:sp>
        <p:nvSpPr>
          <p:cNvPr id="18" name="Subtitle 2"/>
          <p:cNvSpPr>
            <a:spLocks noGrp="1"/>
          </p:cNvSpPr>
          <p:nvPr>
            <p:ph type="subTitle" idx="1"/>
          </p:nvPr>
        </p:nvSpPr>
        <p:spPr>
          <a:xfrm>
            <a:off x="470453" y="3541241"/>
            <a:ext cx="5487504" cy="583924"/>
          </a:xfrm>
        </p:spPr>
        <p:txBody>
          <a:bodyPr/>
          <a:lstStyle>
            <a:lvl1pPr marL="0" indent="0" algn="l">
              <a:spcBef>
                <a:spcPts val="500"/>
              </a:spcBef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2005618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1">
    <p:bg>
      <p:bgPr>
        <a:solidFill>
          <a:srgbClr val="424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/>
          <p:cNvSpPr/>
          <p:nvPr userDrawn="1"/>
        </p:nvSpPr>
        <p:spPr>
          <a:xfrm>
            <a:off x="-8141" y="3351821"/>
            <a:ext cx="9143999" cy="899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/>
          </a:p>
        </p:txBody>
      </p:sp>
      <p:pic>
        <p:nvPicPr>
          <p:cNvPr id="5" name="Picture 4" descr="RHULlogo_small_London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092" y="3351371"/>
            <a:ext cx="1801908" cy="900000"/>
          </a:xfrm>
          <a:prstGeom prst="rect">
            <a:avLst/>
          </a:prstGeom>
        </p:spPr>
      </p:pic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36979" y="3471971"/>
            <a:ext cx="6108115" cy="687384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cap="none"/>
            </a:lvl1pPr>
          </a:lstStyle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975714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divider 3">
    <p:bg>
      <p:bgPr>
        <a:solidFill>
          <a:srgbClr val="171D23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" y="3347523"/>
            <a:ext cx="9143999" cy="899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sp>
        <p:nvSpPr>
          <p:cNvPr id="6" name="Title 1"/>
          <p:cNvSpPr>
            <a:spLocks noGrp="1"/>
          </p:cNvSpPr>
          <p:nvPr>
            <p:ph type="title" hasCustomPrompt="1"/>
          </p:nvPr>
        </p:nvSpPr>
        <p:spPr>
          <a:xfrm>
            <a:off x="436979" y="3471971"/>
            <a:ext cx="6108115" cy="687384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defRPr sz="3600" b="0" cap="none"/>
            </a:lvl1pPr>
          </a:lstStyle>
          <a:p>
            <a:r>
              <a:rPr lang="en-GB" dirty="0"/>
              <a:t>Click to edit master title style</a:t>
            </a:r>
          </a:p>
        </p:txBody>
      </p:sp>
      <p:pic>
        <p:nvPicPr>
          <p:cNvPr id="8" name="Picture 7" descr="RHULlogo_small_London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092" y="3347073"/>
            <a:ext cx="1801908" cy="9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28882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page 1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28531"/>
            <a:ext cx="3904974" cy="3272459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49BB3D-90E4-C946-BCF9-8FBC622A1A06}" type="slidenum">
              <a:rPr lang="en-GB" smtClean="0"/>
              <a:t>‹#›</a:t>
            </a:fld>
            <a:endParaRPr lang="en-GB" dirty="0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4660900" y="1328531"/>
            <a:ext cx="4025900" cy="3272963"/>
          </a:xfrm>
        </p:spPr>
        <p:txBody>
          <a:bodyPr/>
          <a:lstStyle>
            <a:lvl1pPr marL="285750" indent="-285750">
              <a:buSzPct val="120000"/>
              <a:buFont typeface="Wingdings" charset="2"/>
              <a:buChar char="§"/>
              <a:defRPr/>
            </a:lvl1pPr>
            <a:lvl2pPr marL="285750" indent="-285750">
              <a:buSzPct val="120000"/>
              <a:buFont typeface="Wingdings" charset="2"/>
              <a:buChar char="§"/>
              <a:defRPr/>
            </a:lvl2pPr>
            <a:lvl3pPr marL="173038" indent="-171450">
              <a:buSzPct val="120000"/>
              <a:buFont typeface="Wingdings" charset="2"/>
              <a:buChar char="§"/>
              <a:defRPr/>
            </a:lvl3pPr>
            <a:lvl4pPr marL="173038" indent="-171450">
              <a:buSzPct val="120000"/>
              <a:buFont typeface="Wingdings" charset="2"/>
              <a:buChar char="§"/>
              <a:defRPr/>
            </a:lvl4pPr>
            <a:lvl5pPr marL="173038" indent="-171450">
              <a:buSzPct val="120000"/>
              <a:buFont typeface="Wingdings" charset="2"/>
              <a:buChar char="§"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457200" y="286120"/>
            <a:ext cx="6938038" cy="69159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794872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page 2 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800"/>
            </a:lvl1pPr>
          </a:lstStyle>
          <a:p>
            <a:fld id="{6B49BB3D-90E4-C946-BCF9-8FBC622A1A0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0" name="Title Placeholder 1"/>
          <p:cNvSpPr>
            <a:spLocks noGrp="1"/>
          </p:cNvSpPr>
          <p:nvPr>
            <p:ph type="title"/>
          </p:nvPr>
        </p:nvSpPr>
        <p:spPr>
          <a:xfrm>
            <a:off x="457200" y="286120"/>
            <a:ext cx="6938038" cy="69159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649843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page 3 singl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800"/>
            </a:lvl1pPr>
          </a:lstStyle>
          <a:p>
            <a:fld id="{6B49BB3D-90E4-C946-BCF9-8FBC622A1A0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457200" y="1222164"/>
            <a:ext cx="8229600" cy="3272459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</p:txBody>
      </p:sp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457200" y="286120"/>
            <a:ext cx="6938038" cy="69159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4956138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Picture page 1">
    <p:bg>
      <p:bgPr>
        <a:solidFill>
          <a:srgbClr val="171D23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-1588" y="0"/>
            <a:ext cx="9145588" cy="5143500"/>
          </a:xfrm>
          <a:noFill/>
        </p:spPr>
        <p:txBody>
          <a:bodyPr lIns="72000" tIns="72000"/>
          <a:lstStyle/>
          <a:p>
            <a:endParaRPr lang="en-GB" dirty="0"/>
          </a:p>
        </p:txBody>
      </p:sp>
      <p:pic>
        <p:nvPicPr>
          <p:cNvPr id="6" name="Picture 5" descr="RHULlogo_small_London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64383" y="323022"/>
            <a:ext cx="1384662" cy="691598"/>
          </a:xfrm>
          <a:prstGeom prst="rect">
            <a:avLst/>
          </a:prstGeom>
        </p:spPr>
      </p:pic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434413" y="4778936"/>
            <a:ext cx="216000" cy="216000"/>
          </a:xfrm>
        </p:spPr>
        <p:txBody>
          <a:bodyPr/>
          <a:lstStyle>
            <a:lvl1pPr>
              <a:defRPr sz="800"/>
            </a:lvl1pPr>
          </a:lstStyle>
          <a:p>
            <a:fld id="{6B49BB3D-90E4-C946-BCF9-8FBC622A1A0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40798767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xt page band at bottom">
    <p:bg>
      <p:bgPr>
        <a:solidFill>
          <a:srgbClr val="171D23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434413" y="4778936"/>
            <a:ext cx="216000" cy="216000"/>
          </a:xfrm>
        </p:spPr>
        <p:txBody>
          <a:bodyPr/>
          <a:lstStyle>
            <a:lvl1pPr>
              <a:defRPr sz="800"/>
            </a:lvl1pPr>
          </a:lstStyle>
          <a:p>
            <a:fld id="{6B49BB3D-90E4-C946-BCF9-8FBC622A1A0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3" name="Rectangle 12"/>
          <p:cNvSpPr/>
          <p:nvPr userDrawn="1"/>
        </p:nvSpPr>
        <p:spPr>
          <a:xfrm>
            <a:off x="0" y="4007447"/>
            <a:ext cx="9144000" cy="68502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7E99A9"/>
              </a:solidFill>
            </a:endParaRPr>
          </a:p>
        </p:txBody>
      </p:sp>
      <p:pic>
        <p:nvPicPr>
          <p:cNvPr id="14" name="Picture 13" descr="RHULlogo_small_London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042" y="4007958"/>
            <a:ext cx="1369450" cy="684000"/>
          </a:xfrm>
          <a:prstGeom prst="rect">
            <a:avLst/>
          </a:prstGeom>
        </p:spPr>
      </p:pic>
      <p:sp>
        <p:nvSpPr>
          <p:cNvPr id="15" name="Title Placeholder 1"/>
          <p:cNvSpPr>
            <a:spLocks noGrp="1"/>
          </p:cNvSpPr>
          <p:nvPr>
            <p:ph type="title"/>
          </p:nvPr>
        </p:nvSpPr>
        <p:spPr>
          <a:xfrm>
            <a:off x="457200" y="3937119"/>
            <a:ext cx="6938038" cy="69159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16" name="Content Placeholder 2"/>
          <p:cNvSpPr>
            <a:spLocks noGrp="1"/>
          </p:cNvSpPr>
          <p:nvPr>
            <p:ph idx="1"/>
          </p:nvPr>
        </p:nvSpPr>
        <p:spPr>
          <a:xfrm>
            <a:off x="457200" y="434451"/>
            <a:ext cx="3904974" cy="3272459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17" name="Content Placeholder 8"/>
          <p:cNvSpPr>
            <a:spLocks noGrp="1"/>
          </p:cNvSpPr>
          <p:nvPr>
            <p:ph sz="quarter" idx="13"/>
          </p:nvPr>
        </p:nvSpPr>
        <p:spPr>
          <a:xfrm>
            <a:off x="4660900" y="434451"/>
            <a:ext cx="4025900" cy="3272963"/>
          </a:xfrm>
        </p:spPr>
        <p:txBody>
          <a:bodyPr/>
          <a:lstStyle>
            <a:lvl1pPr marL="285750" indent="-285750">
              <a:buSzPct val="120000"/>
              <a:buFont typeface="Wingdings" charset="2"/>
              <a:buChar char="§"/>
              <a:defRPr/>
            </a:lvl1pPr>
            <a:lvl2pPr marL="285750" indent="-285750">
              <a:buSzPct val="120000"/>
              <a:buFont typeface="Wingdings" charset="2"/>
              <a:buChar char="§"/>
              <a:defRPr/>
            </a:lvl2pPr>
            <a:lvl3pPr marL="173038" indent="-171450">
              <a:buSzPct val="120000"/>
              <a:buFont typeface="Wingdings" charset="2"/>
              <a:buChar char="§"/>
              <a:defRPr/>
            </a:lvl3pPr>
            <a:lvl4pPr marL="173038" indent="-171450">
              <a:buSzPct val="120000"/>
              <a:buFont typeface="Wingdings" charset="2"/>
              <a:buChar char="§"/>
              <a:defRPr/>
            </a:lvl4pPr>
            <a:lvl5pPr marL="173038" indent="-171450">
              <a:buSzPct val="120000"/>
              <a:buFont typeface="Wingdings" charset="2"/>
              <a:buChar char="§"/>
              <a:defRPr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655818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pag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-1588" y="1024240"/>
            <a:ext cx="9145588" cy="4128881"/>
          </a:xfrm>
          <a:noFill/>
        </p:spPr>
        <p:txBody>
          <a:bodyPr lIns="72000" tIns="72000"/>
          <a:lstStyle/>
          <a:p>
            <a:endParaRPr lang="en-GB" dirty="0"/>
          </a:p>
        </p:txBody>
      </p:sp>
      <p:sp>
        <p:nvSpPr>
          <p:cNvPr id="4" name="TextBox 3"/>
          <p:cNvSpPr txBox="1"/>
          <p:nvPr userDrawn="1"/>
        </p:nvSpPr>
        <p:spPr>
          <a:xfrm>
            <a:off x="76975" y="817765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457200" y="286120"/>
            <a:ext cx="6938038" cy="69159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434413" y="4778936"/>
            <a:ext cx="216000" cy="216000"/>
          </a:xfrm>
        </p:spPr>
        <p:txBody>
          <a:bodyPr/>
          <a:lstStyle>
            <a:lvl1pPr>
              <a:defRPr sz="800"/>
            </a:lvl1pPr>
          </a:lstStyle>
          <a:p>
            <a:fld id="{6B49BB3D-90E4-C946-BCF9-8FBC622A1A0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705533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4"/>
          <p:cNvSpPr>
            <a:spLocks noGrp="1"/>
          </p:cNvSpPr>
          <p:nvPr>
            <p:ph type="chart" sz="quarter" idx="11" hasCustomPrompt="1"/>
          </p:nvPr>
        </p:nvSpPr>
        <p:spPr>
          <a:xfrm>
            <a:off x="457200" y="1166812"/>
            <a:ext cx="8229600" cy="3357563"/>
          </a:xfrm>
        </p:spPr>
        <p:txBody>
          <a:bodyPr lIns="72000" tIns="72000"/>
          <a:lstStyle>
            <a:lvl1pPr>
              <a:defRPr sz="1800"/>
            </a:lvl1pPr>
          </a:lstStyle>
          <a:p>
            <a:r>
              <a:rPr lang="en-GB" sz="2600" b="0" i="0" dirty="0">
                <a:solidFill>
                  <a:srgbClr val="000000"/>
                </a:solidFill>
                <a:latin typeface="Lucida Grande"/>
                <a:ea typeface="Lucida Grande"/>
                <a:cs typeface="Lucida Grande"/>
              </a:rPr>
              <a:t>Chart/graph</a:t>
            </a:r>
            <a:endParaRPr lang="en-GB" dirty="0"/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57200" y="286120"/>
            <a:ext cx="6938038" cy="69159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8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434413" y="4778936"/>
            <a:ext cx="216000" cy="216000"/>
          </a:xfrm>
        </p:spPr>
        <p:txBody>
          <a:bodyPr/>
          <a:lstStyle>
            <a:lvl1pPr>
              <a:defRPr sz="800"/>
            </a:lvl1pPr>
          </a:lstStyle>
          <a:p>
            <a:fld id="{6B49BB3D-90E4-C946-BCF9-8FBC622A1A0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5860513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page cascading bullets NEW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 sz="800"/>
            </a:lvl1pPr>
          </a:lstStyle>
          <a:p>
            <a:fld id="{6B49BB3D-90E4-C946-BCF9-8FBC622A1A06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5" name="Content Placeholder 2"/>
          <p:cNvSpPr>
            <a:spLocks noGrp="1"/>
          </p:cNvSpPr>
          <p:nvPr>
            <p:ph idx="1" hasCustomPrompt="1"/>
          </p:nvPr>
        </p:nvSpPr>
        <p:spPr>
          <a:xfrm>
            <a:off x="457200" y="1222164"/>
            <a:ext cx="8229600" cy="3272459"/>
          </a:xfrm>
        </p:spPr>
        <p:txBody>
          <a:bodyPr/>
          <a:lstStyle>
            <a:lvl1pPr marL="266400" indent="-266400">
              <a:buFont typeface="Arial"/>
              <a:buChar char="•"/>
              <a:defRPr sz="2800"/>
            </a:lvl1pPr>
            <a:lvl2pPr marL="561600" indent="-248400">
              <a:buClr>
                <a:srgbClr val="DA5120"/>
              </a:buClr>
              <a:buFont typeface="Lucida Grande"/>
              <a:buChar char="-"/>
              <a:defRPr sz="2400"/>
            </a:lvl2pPr>
            <a:lvl3pPr marL="813600" indent="-234000">
              <a:buClr>
                <a:srgbClr val="171D23"/>
              </a:buClr>
              <a:buFont typeface="Wingdings" charset="2"/>
              <a:buChar char="§"/>
              <a:defRPr sz="2000"/>
            </a:lvl3pPr>
          </a:lstStyle>
          <a:p>
            <a:pPr lvl="0"/>
            <a:r>
              <a:rPr lang="en-US" dirty="0"/>
              <a:t>Click to edit Master text styles </a:t>
            </a:r>
          </a:p>
          <a:p>
            <a:pPr lvl="1"/>
            <a:r>
              <a:rPr lang="en-US" dirty="0"/>
              <a:t>Second level </a:t>
            </a:r>
          </a:p>
          <a:p>
            <a:pPr lvl="2"/>
            <a:r>
              <a:rPr lang="en-US" dirty="0"/>
              <a:t>Third level</a:t>
            </a:r>
          </a:p>
        </p:txBody>
      </p:sp>
      <p:sp>
        <p:nvSpPr>
          <p:cNvPr id="6" name="Title Placeholder 1"/>
          <p:cNvSpPr>
            <a:spLocks noGrp="1"/>
          </p:cNvSpPr>
          <p:nvPr>
            <p:ph type="title"/>
          </p:nvPr>
        </p:nvSpPr>
        <p:spPr>
          <a:xfrm>
            <a:off x="457200" y="286120"/>
            <a:ext cx="6938038" cy="69159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0907855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page number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1"/>
          </p:nvPr>
        </p:nvSpPr>
        <p:spPr>
          <a:xfrm>
            <a:off x="463071" y="1167908"/>
            <a:ext cx="8229600" cy="3394472"/>
          </a:xfrm>
        </p:spPr>
        <p:txBody>
          <a:bodyPr/>
          <a:lstStyle>
            <a:lvl1pPr marL="288000" indent="-324000">
              <a:buFont typeface="+mj-lt"/>
              <a:buAutoNum type="arabicPeriod"/>
              <a:defRPr sz="2800">
                <a:latin typeface="Corbel"/>
                <a:cs typeface="Corbel"/>
              </a:defRPr>
            </a:lvl1pPr>
            <a:lvl2pPr marL="648000" indent="-288000" algn="l">
              <a:buClr>
                <a:srgbClr val="FF6600"/>
              </a:buClr>
              <a:buFont typeface="+mj-lt"/>
              <a:buAutoNum type="romanLcPeriod"/>
              <a:defRPr sz="2400">
                <a:latin typeface="Corbel"/>
                <a:cs typeface="Corbel"/>
              </a:defRPr>
            </a:lvl2pPr>
            <a:lvl3pPr marL="579600" indent="0">
              <a:buFont typeface="Arial"/>
              <a:buNone/>
              <a:defRPr sz="2000">
                <a:latin typeface="Corbel"/>
                <a:cs typeface="Corbel"/>
              </a:defRPr>
            </a:lvl3pPr>
          </a:lstStyle>
          <a:p>
            <a:pPr lvl="0"/>
            <a:r>
              <a:rPr lang="en-US" dirty="0"/>
              <a:t>Click to edit Master text </a:t>
            </a:r>
          </a:p>
          <a:p>
            <a:pPr lvl="1"/>
            <a:r>
              <a:rPr lang="en-US" dirty="0"/>
              <a:t>Second level</a:t>
            </a:r>
          </a:p>
          <a:p>
            <a:pPr lvl="1"/>
            <a:r>
              <a:rPr lang="en-US" dirty="0"/>
              <a:t>Third level</a:t>
            </a:r>
          </a:p>
        </p:txBody>
      </p:sp>
      <p:sp>
        <p:nvSpPr>
          <p:cNvPr id="8" name="Title Placeholder 1"/>
          <p:cNvSpPr>
            <a:spLocks noGrp="1"/>
          </p:cNvSpPr>
          <p:nvPr>
            <p:ph type="title"/>
          </p:nvPr>
        </p:nvSpPr>
        <p:spPr>
          <a:xfrm>
            <a:off x="457200" y="286120"/>
            <a:ext cx="6938038" cy="69159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5" name="Slide Number Placeholder 2"/>
          <p:cNvSpPr>
            <a:spLocks noGrp="1"/>
          </p:cNvSpPr>
          <p:nvPr>
            <p:ph type="sldNum" sz="quarter" idx="10"/>
          </p:nvPr>
        </p:nvSpPr>
        <p:spPr>
          <a:xfrm>
            <a:off x="434413" y="4778936"/>
            <a:ext cx="216000" cy="216000"/>
          </a:xfrm>
        </p:spPr>
        <p:txBody>
          <a:bodyPr/>
          <a:lstStyle>
            <a:lvl1pPr>
              <a:defRPr sz="800"/>
            </a:lvl1pPr>
          </a:lstStyle>
          <a:p>
            <a:fld id="{6B49BB3D-90E4-C946-BCF9-8FBC622A1A06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13973074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End slide">
    <p:bg>
      <p:bgPr>
        <a:solidFill>
          <a:srgbClr val="424A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 userDrawn="1"/>
        </p:nvSpPr>
        <p:spPr>
          <a:xfrm>
            <a:off x="1" y="3349901"/>
            <a:ext cx="9143999" cy="8991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dirty="0"/>
          </a:p>
        </p:txBody>
      </p:sp>
      <p:pic>
        <p:nvPicPr>
          <p:cNvPr id="6" name="Picture 5" descr="RHULlogo_small_London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42092" y="3352841"/>
            <a:ext cx="1801908" cy="900000"/>
          </a:xfrm>
          <a:prstGeom prst="rect">
            <a:avLst/>
          </a:prstGeom>
        </p:spPr>
      </p:pic>
      <p:grpSp>
        <p:nvGrpSpPr>
          <p:cNvPr id="10" name="Group 9"/>
          <p:cNvGrpSpPr/>
          <p:nvPr userDrawn="1"/>
        </p:nvGrpSpPr>
        <p:grpSpPr>
          <a:xfrm>
            <a:off x="0" y="3112548"/>
            <a:ext cx="9144000" cy="1385660"/>
            <a:chOff x="0" y="3112548"/>
            <a:chExt cx="9144000" cy="1385660"/>
          </a:xfrm>
        </p:grpSpPr>
        <p:sp>
          <p:nvSpPr>
            <p:cNvPr id="11" name="Rectangle 10"/>
            <p:cNvSpPr/>
            <p:nvPr userDrawn="1"/>
          </p:nvSpPr>
          <p:spPr>
            <a:xfrm>
              <a:off x="1" y="3351821"/>
              <a:ext cx="9143999" cy="899100"/>
            </a:xfrm>
            <a:prstGeom prst="rect">
              <a:avLst/>
            </a:prstGeom>
            <a:solidFill>
              <a:schemeClr val="tx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dirty="0"/>
            </a:p>
          </p:txBody>
        </p:sp>
        <p:pic>
          <p:nvPicPr>
            <p:cNvPr id="12" name="Picture 11" descr="RHULlogo_small_London.jpg"/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342092" y="3351371"/>
              <a:ext cx="1801908" cy="900000"/>
            </a:xfrm>
            <a:prstGeom prst="rect">
              <a:avLst/>
            </a:prstGeom>
          </p:spPr>
        </p:pic>
        <p:grpSp>
          <p:nvGrpSpPr>
            <p:cNvPr id="13" name="Group 12"/>
            <p:cNvGrpSpPr/>
            <p:nvPr userDrawn="1"/>
          </p:nvGrpSpPr>
          <p:grpSpPr>
            <a:xfrm>
              <a:off x="0" y="3112548"/>
              <a:ext cx="9138506" cy="244967"/>
              <a:chOff x="10495" y="3091554"/>
              <a:chExt cx="9138506" cy="244967"/>
            </a:xfrm>
          </p:grpSpPr>
          <p:pic>
            <p:nvPicPr>
              <p:cNvPr id="17" name="Picture 16" descr="Music_Hall_Diagonal_6_long_lines_white-optimized1.png"/>
              <p:cNvPicPr>
                <a:picLocks noChangeAspect="1"/>
              </p:cNvPicPr>
              <p:nvPr userDrawn="1"/>
            </p:nvPicPr>
            <p:blipFill rotWithShape="1">
              <a:blip r:embed="rId3">
                <a:alphaModFix amt="4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609" t="1132" r="1609" b="50000"/>
              <a:stretch/>
            </p:blipFill>
            <p:spPr>
              <a:xfrm>
                <a:off x="2749476" y="3091554"/>
                <a:ext cx="6399525" cy="244967"/>
              </a:xfrm>
              <a:prstGeom prst="rect">
                <a:avLst/>
              </a:prstGeom>
            </p:spPr>
          </p:pic>
          <p:pic>
            <p:nvPicPr>
              <p:cNvPr id="18" name="Picture 17" descr="Music_Hall_Diagonal_6_long_lines_white-optimized1.png"/>
              <p:cNvPicPr>
                <a:picLocks noChangeAspect="1"/>
              </p:cNvPicPr>
              <p:nvPr userDrawn="1"/>
            </p:nvPicPr>
            <p:blipFill rotWithShape="1">
              <a:blip r:embed="rId3">
                <a:alphaModFix amt="4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894" r="3698" b="51131"/>
              <a:stretch/>
            </p:blipFill>
            <p:spPr>
              <a:xfrm>
                <a:off x="10495" y="3091554"/>
                <a:ext cx="2841940" cy="244967"/>
              </a:xfrm>
              <a:prstGeom prst="rect">
                <a:avLst/>
              </a:prstGeom>
            </p:spPr>
          </p:pic>
        </p:grpSp>
        <p:grpSp>
          <p:nvGrpSpPr>
            <p:cNvPr id="14" name="Group 13"/>
            <p:cNvGrpSpPr/>
            <p:nvPr userDrawn="1"/>
          </p:nvGrpSpPr>
          <p:grpSpPr>
            <a:xfrm>
              <a:off x="0" y="4253241"/>
              <a:ext cx="9138506" cy="244967"/>
              <a:chOff x="10495" y="3091554"/>
              <a:chExt cx="9138506" cy="244967"/>
            </a:xfrm>
          </p:grpSpPr>
          <p:pic>
            <p:nvPicPr>
              <p:cNvPr id="15" name="Picture 14" descr="Music_Hall_Diagonal_6_long_lines_white-optimized1.png"/>
              <p:cNvPicPr>
                <a:picLocks noChangeAspect="1"/>
              </p:cNvPicPr>
              <p:nvPr userDrawn="1"/>
            </p:nvPicPr>
            <p:blipFill rotWithShape="1">
              <a:blip r:embed="rId3">
                <a:alphaModFix amt="4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-1609" t="1132" r="1609" b="50000"/>
              <a:stretch/>
            </p:blipFill>
            <p:spPr>
              <a:xfrm>
                <a:off x="2749476" y="3091554"/>
                <a:ext cx="6399525" cy="244967"/>
              </a:xfrm>
              <a:prstGeom prst="rect">
                <a:avLst/>
              </a:prstGeom>
            </p:spPr>
          </p:pic>
          <p:pic>
            <p:nvPicPr>
              <p:cNvPr id="16" name="Picture 15" descr="Music_Hall_Diagonal_6_long_lines_white-optimized1.png"/>
              <p:cNvPicPr>
                <a:picLocks noChangeAspect="1"/>
              </p:cNvPicPr>
              <p:nvPr userDrawn="1"/>
            </p:nvPicPr>
            <p:blipFill rotWithShape="1">
              <a:blip r:embed="rId3">
                <a:alphaModFix amt="40000"/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51894" r="3698" b="51131"/>
              <a:stretch/>
            </p:blipFill>
            <p:spPr>
              <a:xfrm>
                <a:off x="10495" y="3091554"/>
                <a:ext cx="2841940" cy="244967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val="71539338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9D6E9CDC-60A9-4BE1-B19A-3A1A5D6637D3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559807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171D23">
            <a:alpha val="1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 userDrawn="1"/>
        </p:nvSpPr>
        <p:spPr>
          <a:xfrm>
            <a:off x="0" y="323022"/>
            <a:ext cx="9144000" cy="685022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>
              <a:solidFill>
                <a:srgbClr val="7E99A9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5942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34413" y="4778936"/>
            <a:ext cx="216000" cy="216000"/>
          </a:xfrm>
          <a:prstGeom prst="rect">
            <a:avLst/>
          </a:prstGeom>
          <a:solidFill>
            <a:schemeClr val="accent1"/>
          </a:solidFill>
        </p:spPr>
        <p:txBody>
          <a:bodyPr vert="horz" lIns="0" tIns="0" rIns="0" bIns="0" rtlCol="0" anchor="ctr" anchorCtr="0"/>
          <a:lstStyle>
            <a:lvl1pPr algn="ctr">
              <a:defRPr sz="800" normalizeH="1">
                <a:solidFill>
                  <a:srgbClr val="002060"/>
                </a:solidFill>
              </a:defRPr>
            </a:lvl1pPr>
          </a:lstStyle>
          <a:p>
            <a:fld id="{6B49BB3D-90E4-C946-BCF9-8FBC622A1A06}" type="slidenum">
              <a:rPr lang="en-GB" smtClean="0"/>
              <a:pPr/>
              <a:t>‹#›</a:t>
            </a:fld>
            <a:endParaRPr lang="en-GB" dirty="0"/>
          </a:p>
        </p:txBody>
      </p:sp>
      <p:pic>
        <p:nvPicPr>
          <p:cNvPr id="9" name="Picture 8" descr="RHULlogo_small_London.jpg"/>
          <p:cNvPicPr>
            <a:picLocks noChangeAspect="1"/>
          </p:cNvPicPr>
          <p:nvPr userDrawn="1"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5042" y="323533"/>
            <a:ext cx="1369450" cy="684000"/>
          </a:xfrm>
          <a:prstGeom prst="rect">
            <a:avLst/>
          </a:prstGeom>
        </p:spPr>
      </p:pic>
      <p:sp>
        <p:nvSpPr>
          <p:cNvPr id="7" name="Title Placeholder 1"/>
          <p:cNvSpPr>
            <a:spLocks noGrp="1"/>
          </p:cNvSpPr>
          <p:nvPr>
            <p:ph type="title"/>
          </p:nvPr>
        </p:nvSpPr>
        <p:spPr>
          <a:xfrm>
            <a:off x="457200" y="286120"/>
            <a:ext cx="6938038" cy="691598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r>
              <a:rPr lang="en-GB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6677744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83" r:id="rId2"/>
    <p:sldLayoutId id="2147483661" r:id="rId3"/>
    <p:sldLayoutId id="2147483662" r:id="rId4"/>
    <p:sldLayoutId id="2147483650" r:id="rId5"/>
    <p:sldLayoutId id="2147483653" r:id="rId6"/>
    <p:sldLayoutId id="2147483680" r:id="rId7"/>
    <p:sldLayoutId id="2147483685" r:id="rId8"/>
    <p:sldLayoutId id="2147483691" r:id="rId9"/>
    <p:sldLayoutId id="2147483654" r:id="rId10"/>
    <p:sldLayoutId id="2147483664" r:id="rId11"/>
    <p:sldLayoutId id="2147483693" r:id="rId12"/>
    <p:sldLayoutId id="2147483682" r:id="rId13"/>
    <p:sldLayoutId id="2147483687" r:id="rId14"/>
    <p:sldLayoutId id="2147483694" r:id="rId15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kern="120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0" indent="0" algn="l" defTabSz="457200" rtl="0" eaLnBrk="1" latinLnBrk="0" hangingPunct="1">
        <a:lnSpc>
          <a:spcPct val="100000"/>
        </a:lnSpc>
        <a:spcBef>
          <a:spcPts val="1200"/>
        </a:spcBef>
        <a:buFont typeface="Arial"/>
        <a:buNone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0" indent="0" algn="l" defTabSz="457200" rtl="0" eaLnBrk="1" latinLnBrk="0" hangingPunct="1">
        <a:spcBef>
          <a:spcPts val="1200"/>
        </a:spcBef>
        <a:buFont typeface="Arial"/>
        <a:buNone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1588" indent="0" algn="l" defTabSz="457200" rtl="0" eaLnBrk="1" latinLnBrk="0" hangingPunct="1">
        <a:spcBef>
          <a:spcPts val="1200"/>
        </a:spcBef>
        <a:buFont typeface="Arial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1588" indent="0" algn="l" defTabSz="457200" rtl="0" eaLnBrk="1" latinLnBrk="0" hangingPunct="1">
        <a:spcBef>
          <a:spcPts val="1200"/>
        </a:spcBef>
        <a:buFont typeface="Arial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588" indent="0" algn="l" defTabSz="457200" rtl="0" eaLnBrk="1" latinLnBrk="0" hangingPunct="1">
        <a:spcBef>
          <a:spcPts val="1200"/>
        </a:spcBef>
        <a:buFont typeface="Arial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hyperlink" Target="mailto:j.reddington@rhul.ac.uk" TargetMode="Externa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6.pn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5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9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5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hyperlink" Target="https://joereddington.com/2024/06/10/attendence.html" TargetMode="Externa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reddit.com/r/LegalAdviceUK/comments/1joxfdy/being_approached_by_ex_employer_to_fix_system/" TargetMode="External"/><Relationship Id="rId1" Type="http://schemas.openxmlformats.org/officeDocument/2006/relationships/slideLayout" Target="../slideLayouts/slideLayout1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0: Welcome</a:t>
            </a:r>
          </a:p>
        </p:txBody>
      </p:sp>
      <p:sp>
        <p:nvSpPr>
          <p:cNvPr id="6" name="Subtitle 5"/>
          <p:cNvSpPr>
            <a:spLocks noGrp="1"/>
          </p:cNvSpPr>
          <p:nvPr>
            <p:ph type="subTitle" idx="1"/>
          </p:nvPr>
        </p:nvSpPr>
        <p:spPr>
          <a:xfrm>
            <a:off x="470452" y="3467761"/>
            <a:ext cx="5487504" cy="793995"/>
          </a:xfrm>
        </p:spPr>
        <p:txBody>
          <a:bodyPr/>
          <a:lstStyle/>
          <a:p>
            <a:r>
              <a:rPr lang="en-US" dirty="0"/>
              <a:t>IY3501: </a:t>
            </a:r>
            <a:r>
              <a:rPr lang="en-GB" dirty="0"/>
              <a:t>Security Management</a:t>
            </a:r>
            <a:endParaRPr lang="en-US" dirty="0"/>
          </a:p>
          <a:p>
            <a:pPr>
              <a:spcBef>
                <a:spcPts val="500"/>
              </a:spcBef>
            </a:pPr>
            <a:r>
              <a:rPr lang="en-US" dirty="0"/>
              <a:t>Dr Joe Reddington</a:t>
            </a:r>
          </a:p>
        </p:txBody>
      </p:sp>
    </p:spTree>
    <p:extLst>
      <p:ext uri="{BB962C8B-B14F-4D97-AF65-F5344CB8AC3E}">
        <p14:creationId xmlns:p14="http://schemas.microsoft.com/office/powerpoint/2010/main" val="12098092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9BB3D-90E4-C946-BCF9-8FBC622A1A06}" type="slidenum">
              <a:rPr lang="en-GB" smtClean="0"/>
              <a:pPr/>
              <a:t>2</a:t>
            </a:fld>
            <a:endParaRPr lang="en-GB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266065" indent="-266065" fontAlgn="base"/>
            <a:r>
              <a:rPr lang="en-US"/>
              <a:t>Introduce the module and myself</a:t>
            </a:r>
            <a:r>
              <a:rPr lang="en-GB" dirty="0"/>
              <a:t>​</a:t>
            </a:r>
            <a:endParaRPr lang="en-US"/>
          </a:p>
          <a:p>
            <a:pPr fontAlgn="base"/>
            <a:r>
              <a:rPr lang="en-US" dirty="0"/>
              <a:t>Explain the high-level and weekly structure</a:t>
            </a:r>
            <a:r>
              <a:rPr lang="en-GB" dirty="0"/>
              <a:t>​</a:t>
            </a:r>
          </a:p>
          <a:p>
            <a:pPr marL="266065" indent="-266065" fontAlgn="base"/>
            <a:r>
              <a:rPr lang="en-US"/>
              <a:t>Explain how the module is assessed</a:t>
            </a:r>
            <a:r>
              <a:rPr lang="en-GB" dirty="0"/>
              <a:t>​</a:t>
            </a:r>
          </a:p>
          <a:p>
            <a:pPr fontAlgn="base"/>
            <a:r>
              <a:rPr lang="en-US" dirty="0"/>
              <a:t>Discuss formative assignments and feedback</a:t>
            </a:r>
            <a:r>
              <a:rPr lang="en-GB" dirty="0"/>
              <a:t>​</a:t>
            </a:r>
          </a:p>
          <a:p>
            <a:pPr fontAlgn="base"/>
            <a:r>
              <a:rPr lang="en-GB" dirty="0"/>
              <a:t>Make sure everybody knows where to ask questions or get help.</a:t>
            </a:r>
          </a:p>
        </p:txBody>
      </p:sp>
      <p:sp>
        <p:nvSpPr>
          <p:cNvPr id="5" name="Title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of the Unit</a:t>
            </a:r>
          </a:p>
        </p:txBody>
      </p:sp>
    </p:spTree>
    <p:extLst>
      <p:ext uri="{BB962C8B-B14F-4D97-AF65-F5344CB8AC3E}">
        <p14:creationId xmlns:p14="http://schemas.microsoft.com/office/powerpoint/2010/main" val="339450429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Content</a:t>
            </a:r>
          </a:p>
        </p:txBody>
      </p:sp>
    </p:spTree>
    <p:extLst>
      <p:ext uri="{BB962C8B-B14F-4D97-AF65-F5344CB8AC3E}">
        <p14:creationId xmlns:p14="http://schemas.microsoft.com/office/powerpoint/2010/main" val="2146911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947B4AE-A23F-E6E2-A409-EF9A88531681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1E46F80-0E1B-6262-3822-21A120B752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Module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BC48105-3A31-B7E2-E493-18678AB2741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9BB3D-90E4-C946-BCF9-8FBC622A1A06}" type="slidenum">
              <a:rPr lang="en-GB" smtClean="0"/>
              <a:pPr/>
              <a:t>4</a:t>
            </a:fld>
            <a:endParaRPr lang="en-GB" dirty="0"/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0233D78A-5DC1-C031-DE98-B7C268C12C06}"/>
              </a:ext>
            </a:extLst>
          </p:cNvPr>
          <p:cNvSpPr/>
          <p:nvPr/>
        </p:nvSpPr>
        <p:spPr>
          <a:xfrm>
            <a:off x="1163160" y="1540226"/>
            <a:ext cx="6817680" cy="2676202"/>
          </a:xfrm>
          <a:prstGeom prst="rect">
            <a:avLst/>
          </a:prstGeom>
          <a:solidFill>
            <a:srgbClr val="EB641E"/>
          </a:solidFill>
          <a:ln>
            <a:solidFill>
              <a:srgbClr val="AD491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wrap="square" lIns="90000" tIns="45000" rIns="90000" bIns="45000" anchor="t">
            <a:spAutoFit/>
          </a:bodyPr>
          <a:lstStyle/>
          <a:p>
            <a:pPr algn="ctr"/>
            <a:r>
              <a:rPr lang="en-GB" sz="2800" b="0" strike="noStrike" spc="-1">
                <a:solidFill>
                  <a:srgbClr val="FFFFFF"/>
                </a:solidFill>
                <a:latin typeface="corbel"/>
                <a:ea typeface="DejaVu Sans"/>
              </a:rPr>
              <a:t>This </a:t>
            </a:r>
            <a:r>
              <a:rPr lang="en-GB" sz="2800" spc="-1">
                <a:solidFill>
                  <a:srgbClr val="FFFFFF"/>
                </a:solidFill>
                <a:latin typeface="corbel"/>
                <a:ea typeface="DejaVu Sans"/>
              </a:rPr>
              <a:t>module</a:t>
            </a:r>
            <a:r>
              <a:rPr lang="en-GB" sz="2800" b="0" strike="noStrike" spc="-1">
                <a:solidFill>
                  <a:srgbClr val="FFFFFF"/>
                </a:solidFill>
                <a:latin typeface="corbel"/>
                <a:ea typeface="DejaVu Sans"/>
              </a:rPr>
              <a:t> is concerned with how to use </a:t>
            </a:r>
            <a:r>
              <a:rPr lang="en-GB" sz="2800" b="0" strike="noStrike" spc="-1" dirty="0">
                <a:solidFill>
                  <a:srgbClr val="FFFFFF"/>
                </a:solidFill>
                <a:latin typeface="corbel"/>
                <a:ea typeface="DejaVu Sans"/>
              </a:rPr>
              <a:t>security technology, processes and people to protect an organisation’s assets, to enable the organisation to achieve its business </a:t>
            </a:r>
            <a:endParaRPr lang="en-GB" sz="2800" spc="-1" dirty="0">
              <a:solidFill>
                <a:srgbClr val="000000"/>
              </a:solidFill>
              <a:latin typeface="Arial"/>
              <a:ea typeface="DejaVu Sans"/>
            </a:endParaRPr>
          </a:p>
          <a:p>
            <a:pPr algn="ctr"/>
            <a:r>
              <a:rPr lang="en-GB" sz="2800" spc="-1" dirty="0">
                <a:solidFill>
                  <a:srgbClr val="FFFFFF"/>
                </a:solidFill>
                <a:latin typeface="corbel"/>
              </a:rPr>
              <a:t>goals</a:t>
            </a:r>
            <a:endParaRPr lang="en-GB" sz="2800" spc="-1" dirty="0">
              <a:solidFill>
                <a:srgbClr val="000000"/>
              </a:solidFill>
              <a:latin typeface="Arial"/>
            </a:endParaRPr>
          </a:p>
          <a:p>
            <a:pPr algn="ctr">
              <a:lnSpc>
                <a:spcPct val="100000"/>
              </a:lnSpc>
              <a:buNone/>
            </a:pPr>
            <a:endParaRPr lang="en-GB" sz="2800" b="0" strike="noStrike" spc="-1" dirty="0">
              <a:solidFill>
                <a:srgbClr val="FFFFFF"/>
              </a:solidFill>
              <a:latin typeface="corbel"/>
            </a:endParaRPr>
          </a:p>
        </p:txBody>
      </p:sp>
    </p:spTree>
    <p:extLst>
      <p:ext uri="{BB962C8B-B14F-4D97-AF65-F5344CB8AC3E}">
        <p14:creationId xmlns:p14="http://schemas.microsoft.com/office/powerpoint/2010/main" val="28788671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C8ED4-3137-E15E-D724-6790E2EADA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96AC6AE-04BF-41C6-6693-19D91D8A61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Module Statement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FC345F-1250-6E29-E1DE-B8F90880F8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9BB3D-90E4-C946-BCF9-8FBC622A1A06}" type="slidenum">
              <a:rPr lang="en-GB" smtClean="0"/>
              <a:pPr/>
              <a:t>5</a:t>
            </a:fld>
            <a:endParaRPr lang="en-GB" dirty="0"/>
          </a:p>
        </p:txBody>
      </p:sp>
      <p:sp>
        <p:nvSpPr>
          <p:cNvPr id="5" name="TextBox 2">
            <a:extLst>
              <a:ext uri="{FF2B5EF4-FFF2-40B4-BE49-F238E27FC236}">
                <a16:creationId xmlns:a16="http://schemas.microsoft.com/office/drawing/2014/main" id="{B65F8761-8F5D-325A-070C-6BE4508A00A9}"/>
              </a:ext>
            </a:extLst>
          </p:cNvPr>
          <p:cNvSpPr/>
          <p:nvPr/>
        </p:nvSpPr>
        <p:spPr>
          <a:xfrm>
            <a:off x="1163160" y="1553707"/>
            <a:ext cx="6817680" cy="2368425"/>
          </a:xfrm>
          <a:prstGeom prst="rect">
            <a:avLst/>
          </a:prstGeom>
          <a:solidFill>
            <a:srgbClr val="EB641E"/>
          </a:solidFill>
          <a:ln>
            <a:solidFill>
              <a:srgbClr val="AD4916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tIns="45000" rIns="90000" bIns="45000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GB" sz="2800" b="0" strike="noStrike" spc="-1">
                <a:solidFill>
                  <a:srgbClr val="FFFFFF"/>
                </a:solidFill>
                <a:latin typeface="corbel"/>
                <a:ea typeface="DejaVu Sans"/>
              </a:rPr>
              <a:t>This </a:t>
            </a:r>
            <a:r>
              <a:rPr lang="en-GB" sz="2800" spc="-1">
                <a:solidFill>
                  <a:srgbClr val="FFFFFF"/>
                </a:solidFill>
                <a:latin typeface="corbel"/>
                <a:ea typeface="DejaVu Sans"/>
              </a:rPr>
              <a:t>module</a:t>
            </a:r>
            <a:r>
              <a:rPr lang="en-GB" sz="2800" b="0" strike="noStrike" spc="-1">
                <a:solidFill>
                  <a:srgbClr val="FFFFFF"/>
                </a:solidFill>
                <a:latin typeface="corbel"/>
                <a:ea typeface="DejaVu Sans"/>
              </a:rPr>
              <a:t> is concerned with how to use </a:t>
            </a:r>
            <a:r>
              <a:rPr lang="en-GB" sz="2800" b="0" strike="noStrike" spc="-1" dirty="0">
                <a:solidFill>
                  <a:srgbClr val="FFFFFF"/>
                </a:solidFill>
                <a:latin typeface="corbel"/>
                <a:ea typeface="DejaVu Sans"/>
              </a:rPr>
              <a:t>security technology, processes and people to protect an organisation’s </a:t>
            </a:r>
            <a:r>
              <a:rPr lang="en-GB" sz="3200" b="1" strike="noStrike" spc="-1" dirty="0">
                <a:solidFill>
                  <a:srgbClr val="0070C0"/>
                </a:solidFill>
                <a:latin typeface="corbel"/>
                <a:ea typeface="DejaVu Sans"/>
              </a:rPr>
              <a:t>assets</a:t>
            </a:r>
            <a:r>
              <a:rPr lang="en-GB" sz="2800" b="0" strike="noStrike" spc="-1" dirty="0">
                <a:solidFill>
                  <a:srgbClr val="FFFFFF"/>
                </a:solidFill>
                <a:latin typeface="corbel"/>
                <a:ea typeface="DejaVu Sans"/>
              </a:rPr>
              <a:t>, to enable the </a:t>
            </a:r>
            <a:r>
              <a:rPr lang="en-GB" sz="3200" b="1" strike="noStrike" spc="-1" dirty="0">
                <a:solidFill>
                  <a:srgbClr val="0070C0"/>
                </a:solidFill>
                <a:latin typeface="corbel"/>
                <a:ea typeface="DejaVu Sans"/>
              </a:rPr>
              <a:t>organisation </a:t>
            </a:r>
            <a:r>
              <a:rPr lang="en-GB" sz="2800" b="0" strike="noStrike" spc="-1" dirty="0">
                <a:solidFill>
                  <a:srgbClr val="FFFFFF"/>
                </a:solidFill>
                <a:latin typeface="corbel"/>
                <a:ea typeface="DejaVu Sans"/>
              </a:rPr>
              <a:t>to achieve its </a:t>
            </a:r>
            <a:r>
              <a:rPr lang="en-GB" sz="2800" b="1" strike="noStrike" spc="-1" dirty="0">
                <a:solidFill>
                  <a:srgbClr val="0070C0"/>
                </a:solidFill>
                <a:latin typeface="corbel"/>
                <a:ea typeface="DejaVu Sans"/>
              </a:rPr>
              <a:t>business</a:t>
            </a:r>
            <a:r>
              <a:rPr lang="en-GB" sz="2800" b="0" strike="noStrike" spc="-1" dirty="0">
                <a:solidFill>
                  <a:srgbClr val="0070C0"/>
                </a:solidFill>
                <a:latin typeface="corbel"/>
                <a:ea typeface="DejaVu Sans"/>
              </a:rPr>
              <a:t> goals</a:t>
            </a:r>
            <a:endParaRPr lang="en-GB" sz="2800" b="0" strike="noStrike" spc="-1">
              <a:solidFill>
                <a:srgbClr val="0070C0"/>
              </a:solidFill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50198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PlaceHolder 1"/>
          <p:cNvSpPr>
            <a:spLocks noGrp="1"/>
          </p:cNvSpPr>
          <p:nvPr>
            <p:ph/>
          </p:nvPr>
        </p:nvSpPr>
        <p:spPr>
          <a:xfrm>
            <a:off x="457200" y="1222200"/>
            <a:ext cx="8227440" cy="327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orbel"/>
              </a:rPr>
              <a:t>We look at frameworks, standards and best practices for security management</a:t>
            </a:r>
            <a:endParaRPr lang="en-GB" sz="2800" b="0" strike="noStrike" spc="-1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orbel"/>
              </a:rPr>
              <a:t>We cover in detail the controls, policies and processes that organisations may use</a:t>
            </a:r>
            <a:endParaRPr lang="en-GB" sz="2800" b="0" strike="noStrike" spc="-1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orbel"/>
              </a:rPr>
              <a:t>We study the legal and regulatory context</a:t>
            </a:r>
            <a:endParaRPr lang="en-GB" sz="2800" b="0" strike="noStrike" spc="-1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orbel"/>
              </a:rPr>
              <a:t>We consider the application of these in various business contexts and consider explicit case studies</a:t>
            </a:r>
            <a:endParaRPr lang="en-GB" sz="2800" b="0" strike="noStrike" spc="-1">
              <a:latin typeface="Arial"/>
            </a:endParaRPr>
          </a:p>
        </p:txBody>
      </p:sp>
      <p:sp>
        <p:nvSpPr>
          <p:cNvPr id="281" name="PlaceHolder 2"/>
          <p:cNvSpPr>
            <a:spLocks noGrp="1"/>
          </p:cNvSpPr>
          <p:nvPr>
            <p:ph type="title"/>
          </p:nvPr>
        </p:nvSpPr>
        <p:spPr>
          <a:xfrm>
            <a:off x="457200" y="286200"/>
            <a:ext cx="6935760" cy="68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FFFFFF"/>
                </a:solidFill>
                <a:latin typeface="corbel"/>
              </a:rPr>
              <a:t>High-level </a:t>
            </a:r>
            <a:r>
              <a:rPr lang="en-US" spc="-1">
                <a:latin typeface="corbel"/>
              </a:rPr>
              <a:t>module</a:t>
            </a:r>
            <a:r>
              <a:rPr lang="en-US" sz="2800" b="0" strike="noStrike" spc="-1">
                <a:solidFill>
                  <a:srgbClr val="FFFFFF"/>
                </a:solidFill>
                <a:latin typeface="corbel"/>
              </a:rPr>
              <a:t> overview</a:t>
            </a:r>
            <a:endParaRPr lang="en-GB" sz="28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A57D7066-090F-4C00-8ED3-958CE7BB0005}" type="slidenum">
              <a:rPr/>
              <a:t>6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96C96B4-7D49-CE4E-9822-F1C0B7D1E50F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 marL="266065" indent="-266065">
              <a:spcBef>
                <a:spcPts val="1199"/>
              </a:spcBef>
              <a:buClr>
                <a:srgbClr val="000000"/>
              </a:buClr>
              <a:buFont typeface="Arial,Sans-Serif"/>
              <a:buChar char="•"/>
            </a:pPr>
            <a:r>
              <a:rPr lang="en-US" spc="-1" dirty="0">
                <a:solidFill>
                  <a:srgbClr val="000000"/>
                </a:solidFill>
              </a:rPr>
              <a:t>8 units of content</a:t>
            </a:r>
            <a:endParaRPr lang="en-GB" spc="-1" dirty="0">
              <a:solidFill>
                <a:srgbClr val="000000"/>
              </a:solidFill>
            </a:endParaRPr>
          </a:p>
          <a:p>
            <a:pPr marL="266065" indent="-266065"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corbel"/>
              </a:rPr>
              <a:t>1hr synchronous online session (Monday)</a:t>
            </a:r>
            <a:endParaRPr lang="en-GB" sz="2400" spc="-1" dirty="0">
              <a:latin typeface="Arial"/>
            </a:endParaRPr>
          </a:p>
          <a:p>
            <a:pPr marL="863600" lvl="1" indent="-32385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lang="en-US" spc="-1" dirty="0">
                <a:solidFill>
                  <a:srgbClr val="000000"/>
                </a:solidFill>
                <a:latin typeface="corbel"/>
              </a:rPr>
              <a:t>Lots of information </a:t>
            </a:r>
            <a:endParaRPr lang="en-GB" spc="-1" dirty="0">
              <a:latin typeface="Arial"/>
            </a:endParaRPr>
          </a:p>
          <a:p>
            <a:pPr marL="266065" indent="-266065"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spc="-1" dirty="0">
                <a:solidFill>
                  <a:srgbClr val="000000"/>
                </a:solidFill>
                <a:latin typeface="corbel"/>
              </a:rPr>
              <a:t>2hrs synchronous F2F session (Friday)</a:t>
            </a:r>
            <a:endParaRPr lang="en-GB" sz="2400" spc="-1" dirty="0">
              <a:latin typeface="Arial"/>
            </a:endParaRPr>
          </a:p>
          <a:p>
            <a:pPr marL="863600" lvl="1" indent="-323850">
              <a:lnSpc>
                <a:spcPct val="100000"/>
              </a:lnSpc>
              <a:spcBef>
                <a:spcPts val="1134"/>
              </a:spcBef>
              <a:buClr>
                <a:srgbClr val="FFFFFF"/>
              </a:buClr>
              <a:buSzPct val="75000"/>
              <a:buFont typeface="Symbol"/>
              <a:buChar char=""/>
            </a:pPr>
            <a:r>
              <a:rPr lang="en-US" spc="-1" dirty="0">
                <a:solidFill>
                  <a:srgbClr val="000000"/>
                </a:solidFill>
                <a:latin typeface="corbel"/>
              </a:rPr>
              <a:t>More interactive</a:t>
            </a:r>
            <a:endParaRPr lang="en-GB" spc="-1" dirty="0">
              <a:latin typeface="Arial"/>
            </a:endParaRP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C3A39FCC-C14D-104F-6967-B8148EA823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3B54C28-50C2-B51A-E5DB-0B0CC761A76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9BB3D-90E4-C946-BCF9-8FBC622A1A06}" type="slidenum">
              <a:rPr lang="en-GB" smtClean="0"/>
              <a:pPr/>
              <a:t>7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4370008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A9EFE0-1F1D-5EFA-19A4-884C3A6EA7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55D4036-C368-E9E8-A542-AD65D85F1F71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>
            <a:normAutofit fontScale="77500" lnSpcReduction="20000"/>
          </a:bodyPr>
          <a:lstStyle/>
          <a:p>
            <a:pPr marL="514350" indent="-514350"/>
            <a:r>
              <a:rPr lang="en-GB" dirty="0"/>
              <a:t>Introduction </a:t>
            </a:r>
          </a:p>
          <a:p>
            <a:pPr marL="514350" indent="-514350"/>
            <a:r>
              <a:rPr lang="en-GB" dirty="0"/>
              <a:t>Standards</a:t>
            </a:r>
          </a:p>
          <a:p>
            <a:pPr marL="514350" indent="-514350"/>
            <a:r>
              <a:rPr lang="en-GB" dirty="0"/>
              <a:t>Risk</a:t>
            </a:r>
          </a:p>
          <a:p>
            <a:pPr marL="514350" indent="-514350"/>
            <a:r>
              <a:rPr lang="en-GB" dirty="0"/>
              <a:t>Controls</a:t>
            </a:r>
          </a:p>
          <a:p>
            <a:pPr marL="514350" indent="-514350"/>
            <a:r>
              <a:rPr lang="en-GB" dirty="0"/>
              <a:t>Incident Management</a:t>
            </a:r>
          </a:p>
          <a:p>
            <a:pPr marL="514350" indent="-514350"/>
            <a:r>
              <a:rPr lang="en-GB" dirty="0"/>
              <a:t>Law and Ethics </a:t>
            </a:r>
          </a:p>
          <a:p>
            <a:pPr marL="514350" indent="-514350"/>
            <a:r>
              <a:rPr lang="en-GB" dirty="0"/>
              <a:t>Staff Management </a:t>
            </a:r>
          </a:p>
          <a:p>
            <a:pPr marL="514350" indent="-514350"/>
            <a:r>
              <a:rPr lang="en-GB" dirty="0"/>
              <a:t>Audit</a:t>
            </a:r>
          </a:p>
          <a:p>
            <a:pPr marL="0" indent="0">
              <a:buNone/>
            </a:pPr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F926C02-2F45-3505-8C75-EB92A3636F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The 8 units are: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3CD540-DDDA-C9C8-E0C2-7E7C5C33A70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9BB3D-90E4-C946-BCF9-8FBC622A1A06}" type="slidenum">
              <a:rPr lang="en-GB" smtClean="0"/>
              <a:pPr/>
              <a:t>8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60998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8D7B7-9C1B-9BB7-0E35-7A8A260396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8E114AC-D80D-7D0E-EC74-0E1650CCD80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66065" indent="-266065"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GB" spc="-1" dirty="0">
                <a:solidFill>
                  <a:srgbClr val="000000"/>
                </a:solidFill>
                <a:latin typeface="corbel"/>
                <a:ea typeface="DejaVu Sans"/>
              </a:rPr>
              <a:t>Security relates directly to harm, and particular demographics get harmed more. </a:t>
            </a:r>
            <a:endParaRPr lang="en-GB" spc="-1" dirty="0">
              <a:latin typeface="Arial"/>
            </a:endParaRPr>
          </a:p>
          <a:p>
            <a:pPr marL="266065" indent="-266065"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GB" spc="-1">
                <a:solidFill>
                  <a:srgbClr val="000000"/>
                </a:solidFill>
                <a:latin typeface="corbel"/>
                <a:ea typeface="DejaVu Sans"/>
              </a:rPr>
              <a:t>This module contains a lot of examples of harm. They </a:t>
            </a:r>
            <a:r>
              <a:rPr lang="en-GB" spc="-1" dirty="0">
                <a:solidFill>
                  <a:srgbClr val="000000"/>
                </a:solidFill>
                <a:latin typeface="corbel"/>
                <a:ea typeface="DejaVu Sans"/>
              </a:rPr>
              <a:t>are presented without unnecessarily detail, but they do exist. </a:t>
            </a:r>
            <a:endParaRPr lang="en-GB" spc="-1" dirty="0">
              <a:latin typeface="Arial"/>
            </a:endParaRPr>
          </a:p>
          <a:p>
            <a:pPr marL="266065" indent="-266065"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GB" spc="-1" dirty="0">
                <a:solidFill>
                  <a:srgbClr val="000000"/>
                </a:solidFill>
                <a:latin typeface="corbel"/>
                <a:ea typeface="DejaVu Sans"/>
              </a:rPr>
              <a:t>Disability is referenced a lot.</a:t>
            </a:r>
            <a:endParaRPr lang="en-GB" spc="-1" dirty="0">
              <a:latin typeface="Arial"/>
            </a:endParaRPr>
          </a:p>
          <a:p>
            <a:pPr>
              <a:spcBef>
                <a:spcPts val="1199"/>
              </a:spcBef>
              <a:buNone/>
              <a:tabLst>
                <a:tab pos="0" algn="l"/>
              </a:tabLst>
            </a:pPr>
            <a:endParaRPr lang="en-GB" spc="-1" dirty="0">
              <a:latin typeface="Arial"/>
            </a:endParaRP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EC72E6E-99F5-1020-1427-CC32F5FC3A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 Warning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982D7-134B-CC45-4B84-CA27731DF1A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9BB3D-90E4-C946-BCF9-8FBC622A1A06}" type="slidenum">
              <a:rPr lang="en-GB" smtClean="0"/>
              <a:pPr/>
              <a:t>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881240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0BB3B-AE45-382F-1847-A913C44308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11EBD5F-2C94-4A5F-E065-28BAACED0EAE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66400" indent="-266400"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GB" spc="-1" dirty="0">
                <a:solidFill>
                  <a:srgbClr val="000000"/>
                </a:solidFill>
                <a:latin typeface="corbel"/>
              </a:rPr>
              <a:t>IY3501 provides a non-technical introduction to security management</a:t>
            </a:r>
            <a:endParaRPr lang="en-GB" spc="-1" dirty="0">
              <a:latin typeface="Arial"/>
            </a:endParaRPr>
          </a:p>
          <a:p>
            <a:pPr marL="266065" indent="-266065"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pc="-1">
                <a:solidFill>
                  <a:srgbClr val="000000"/>
                </a:solidFill>
                <a:latin typeface="corbel"/>
              </a:rPr>
              <a:t>This module will not</a:t>
            </a:r>
            <a:endParaRPr lang="en-GB" spc="-1">
              <a:latin typeface="Arial"/>
            </a:endParaRPr>
          </a:p>
          <a:p>
            <a:pPr marL="561600" lvl="1" indent="-248400">
              <a:lnSpc>
                <a:spcPct val="100000"/>
              </a:lnSpc>
              <a:spcBef>
                <a:spcPts val="1199"/>
              </a:spcBef>
              <a:buClr>
                <a:srgbClr val="DA5120"/>
              </a:buClr>
              <a:buFont typeface="Lucida Grande"/>
              <a:buChar char="-"/>
            </a:pPr>
            <a:r>
              <a:rPr lang="en-US" spc="-1" dirty="0">
                <a:solidFill>
                  <a:srgbClr val="000000"/>
                </a:solidFill>
                <a:latin typeface="corbel"/>
              </a:rPr>
              <a:t>Have much mathematics</a:t>
            </a:r>
            <a:endParaRPr lang="en-GB" spc="-1" dirty="0">
              <a:latin typeface="Arial"/>
            </a:endParaRPr>
          </a:p>
          <a:p>
            <a:pPr marL="561600" lvl="1" indent="-248400">
              <a:lnSpc>
                <a:spcPct val="100000"/>
              </a:lnSpc>
              <a:spcBef>
                <a:spcPts val="1199"/>
              </a:spcBef>
              <a:buClr>
                <a:srgbClr val="DA5120"/>
              </a:buClr>
              <a:buFont typeface="Lucida Grande"/>
              <a:buChar char="-"/>
            </a:pPr>
            <a:r>
              <a:rPr lang="en-US" spc="-1" dirty="0">
                <a:solidFill>
                  <a:srgbClr val="000000"/>
                </a:solidFill>
                <a:latin typeface="corbel"/>
              </a:rPr>
              <a:t>Require any programming</a:t>
            </a:r>
            <a:endParaRPr lang="en-GB" spc="-1" dirty="0">
              <a:latin typeface="Arial"/>
            </a:endParaRPr>
          </a:p>
          <a:p>
            <a:pPr>
              <a:spcBef>
                <a:spcPts val="1199"/>
              </a:spcBef>
              <a:buNone/>
              <a:tabLst>
                <a:tab pos="0" algn="l"/>
              </a:tabLst>
            </a:pPr>
            <a:endParaRPr lang="en-GB" spc="-1" dirty="0">
              <a:latin typeface="Arial"/>
            </a:endParaRP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CF972F1-0858-ED07-D67E-8A633E4BB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Content Warning 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1A6CD9-CF1A-D5CE-A99C-8664D1592D1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9BB3D-90E4-C946-BCF9-8FBC622A1A06}" type="slidenum">
              <a:rPr lang="en-GB" smtClean="0"/>
              <a:pPr/>
              <a:t>10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99276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0A6AD7F-C4B0-7874-01BC-11CF741D3A86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 marL="266065" indent="-266065"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spc="-1" dirty="0">
                <a:solidFill>
                  <a:srgbClr val="000000"/>
                </a:solidFill>
                <a:latin typeface="corbel"/>
              </a:rPr>
              <a:t>By the end of the module students should be able to:</a:t>
            </a:r>
            <a:endParaRPr lang="en-GB" sz="1800" spc="-1" dirty="0">
              <a:latin typeface="Arial"/>
            </a:endParaRPr>
          </a:p>
          <a:p>
            <a:pPr marL="561340" lvl="1" indent="-248285">
              <a:lnSpc>
                <a:spcPct val="100000"/>
              </a:lnSpc>
              <a:spcBef>
                <a:spcPts val="1199"/>
              </a:spcBef>
              <a:buClr>
                <a:srgbClr val="DA5120"/>
              </a:buClr>
              <a:buFont typeface="Lucida Grande"/>
              <a:buChar char="-"/>
            </a:pPr>
            <a:r>
              <a:rPr lang="en-GB" sz="1800" spc="-1" dirty="0">
                <a:solidFill>
                  <a:srgbClr val="000000"/>
                </a:solidFill>
                <a:latin typeface="corbel"/>
              </a:rPr>
              <a:t>Evaluate security management requirements</a:t>
            </a:r>
            <a:endParaRPr lang="en-GB" sz="1800" spc="-1" dirty="0">
              <a:latin typeface="Arial"/>
            </a:endParaRPr>
          </a:p>
          <a:p>
            <a:pPr marL="561340" lvl="1" indent="-248285">
              <a:lnSpc>
                <a:spcPct val="100000"/>
              </a:lnSpc>
              <a:spcBef>
                <a:spcPts val="1199"/>
              </a:spcBef>
              <a:buClr>
                <a:srgbClr val="DA5120"/>
              </a:buClr>
              <a:buFont typeface="Lucida Grande"/>
              <a:buChar char="-"/>
            </a:pPr>
            <a:r>
              <a:rPr lang="en-GB" sz="1800" spc="-1" dirty="0">
                <a:solidFill>
                  <a:srgbClr val="000000"/>
                </a:solidFill>
                <a:latin typeface="corbel"/>
              </a:rPr>
              <a:t>Analyse critically alternative security management strategies and methods</a:t>
            </a:r>
            <a:endParaRPr lang="en-GB" sz="1800" spc="-1" dirty="0">
              <a:latin typeface="Arial"/>
            </a:endParaRPr>
          </a:p>
          <a:p>
            <a:pPr marL="561340" lvl="1" indent="-248285">
              <a:lnSpc>
                <a:spcPct val="100000"/>
              </a:lnSpc>
              <a:spcBef>
                <a:spcPts val="1199"/>
              </a:spcBef>
              <a:buClr>
                <a:srgbClr val="DA5120"/>
              </a:buClr>
              <a:buFont typeface="Lucida Grande"/>
              <a:buChar char="-"/>
            </a:pPr>
            <a:r>
              <a:rPr lang="en-GB" sz="1800" spc="-1" dirty="0">
                <a:solidFill>
                  <a:srgbClr val="000000"/>
                </a:solidFill>
                <a:latin typeface="corbel"/>
              </a:rPr>
              <a:t>Propose effective methods for responding to security management problems</a:t>
            </a:r>
            <a:endParaRPr lang="en-GB" sz="1800" spc="-1" dirty="0">
              <a:latin typeface="Arial"/>
            </a:endParaRPr>
          </a:p>
          <a:p>
            <a:pPr marL="561340" lvl="1" indent="-248285">
              <a:lnSpc>
                <a:spcPct val="100000"/>
              </a:lnSpc>
              <a:spcBef>
                <a:spcPts val="1199"/>
              </a:spcBef>
              <a:buClr>
                <a:srgbClr val="DA5120"/>
              </a:buClr>
              <a:buFont typeface="Lucida Grande"/>
              <a:buChar char="-"/>
            </a:pPr>
            <a:r>
              <a:rPr lang="en-GB" sz="1800" spc="-1" dirty="0">
                <a:solidFill>
                  <a:srgbClr val="000000"/>
                </a:solidFill>
                <a:latin typeface="corbel"/>
              </a:rPr>
              <a:t>Compare and critically evaluate different approaches to security management</a:t>
            </a:r>
          </a:p>
          <a:p>
            <a:pPr marL="561340" lvl="1" indent="-248285">
              <a:lnSpc>
                <a:spcPct val="100000"/>
              </a:lnSpc>
              <a:spcBef>
                <a:spcPts val="1199"/>
              </a:spcBef>
              <a:buClr>
                <a:srgbClr val="DA5120"/>
              </a:buClr>
              <a:buFont typeface="Lucida Grande"/>
              <a:buChar char="-"/>
            </a:pPr>
            <a:r>
              <a:rPr lang="en-GB" sz="1800" spc="-1" dirty="0">
                <a:latin typeface="corbel"/>
              </a:rPr>
              <a:t>Make Smart Decisions about risk</a:t>
            </a:r>
          </a:p>
          <a:p>
            <a:endParaRPr lang="en-GB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374C65F1-CF0A-F133-3CF0-6755AE18D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A24A98-B95F-9AE7-A5D9-8DF72AD036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9BB3D-90E4-C946-BCF9-8FBC622A1A06}" type="slidenum">
              <a:rPr lang="en-GB" smtClean="0"/>
              <a:pPr/>
              <a:t>11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090312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PlaceHolder 1"/>
          <p:cNvSpPr>
            <a:spLocks noGrp="1"/>
          </p:cNvSpPr>
          <p:nvPr>
            <p:ph/>
          </p:nvPr>
        </p:nvSpPr>
        <p:spPr>
          <a:xfrm>
            <a:off x="457200" y="1222200"/>
            <a:ext cx="8227440" cy="327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orbel"/>
              </a:rPr>
              <a:t>Security incidents such as data breaches are impossible to completely avoid</a:t>
            </a:r>
            <a:endParaRPr lang="en-GB" sz="2800" b="0" strike="noStrike" spc="-1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orbel"/>
              </a:rPr>
              <a:t>How do businesses manage this risk in practice?</a:t>
            </a:r>
            <a:endParaRPr lang="en-GB" sz="2800" b="0" strike="noStrike" spc="-1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orbel"/>
              </a:rPr>
              <a:t>How are incidents handled when they do occur?</a:t>
            </a:r>
            <a:endParaRPr lang="en-GB" sz="2800" b="0" strike="noStrike" spc="-1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rgbClr val="000000"/>
                </a:solidFill>
                <a:latin typeface="corbel"/>
              </a:rPr>
              <a:t>What lessons can we learn from such incidents?</a:t>
            </a:r>
            <a:endParaRPr lang="en-GB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GB" sz="2800" b="0" strike="noStrike" spc="-1">
              <a:latin typeface="Arial"/>
            </a:endParaRPr>
          </a:p>
        </p:txBody>
      </p:sp>
      <p:sp>
        <p:nvSpPr>
          <p:cNvPr id="279" name="PlaceHolder 2"/>
          <p:cNvSpPr>
            <a:spLocks noGrp="1"/>
          </p:cNvSpPr>
          <p:nvPr>
            <p:ph type="title"/>
          </p:nvPr>
        </p:nvSpPr>
        <p:spPr>
          <a:xfrm>
            <a:off x="457200" y="286200"/>
            <a:ext cx="6935760" cy="68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0" strike="noStrike" spc="-1" dirty="0">
                <a:solidFill>
                  <a:srgbClr val="FFFFFF"/>
                </a:solidFill>
                <a:latin typeface="corbel"/>
              </a:rPr>
              <a:t>Other Questions we will ask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F06483C-CCB0-4D01-B331-92421CAE92F2}" type="slidenum">
              <a:rPr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BA9C48-BC89-1934-B662-7EB618EC86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92E6BED-435C-1F65-350A-3791D620E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Learning Outcomes As Questions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28B4B-8DF9-97A9-5D69-4E5F7F0D295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9BB3D-90E4-C946-BCF9-8FBC622A1A06}" type="slidenum">
              <a:rPr lang="en-GB" smtClean="0"/>
              <a:pPr/>
              <a:t>13</a:t>
            </a:fld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639E8A8-2E4C-47BE-9C73-CE787F78E450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 marL="266065" indent="-266065"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1800" spc="-1" dirty="0">
                <a:solidFill>
                  <a:srgbClr val="000000"/>
                </a:solidFill>
                <a:latin typeface="corbel"/>
              </a:rPr>
              <a:t>By the end of the module students should be able answer these questions</a:t>
            </a:r>
            <a:endParaRPr lang="en-GB" sz="1800" spc="-1" dirty="0">
              <a:latin typeface="Arial"/>
            </a:endParaRPr>
          </a:p>
          <a:p>
            <a:pPr marL="561340" lvl="1" indent="-248285">
              <a:lnSpc>
                <a:spcPct val="100000"/>
              </a:lnSpc>
              <a:spcBef>
                <a:spcPts val="1199"/>
              </a:spcBef>
              <a:buClr>
                <a:srgbClr val="DA5120"/>
              </a:buClr>
              <a:buFont typeface="Lucida Grande"/>
              <a:buChar char="-"/>
            </a:pPr>
            <a:r>
              <a:rPr lang="en-GB" sz="1800" spc="-1" dirty="0">
                <a:solidFill>
                  <a:srgbClr val="000000"/>
                </a:solidFill>
                <a:latin typeface="corbel"/>
              </a:rPr>
              <a:t>Is our security good enough for the insurers to cover us? </a:t>
            </a:r>
            <a:endParaRPr lang="en-GB" sz="1800" spc="-1" dirty="0">
              <a:latin typeface="Arial"/>
            </a:endParaRPr>
          </a:p>
          <a:p>
            <a:pPr marL="561340" lvl="1" indent="-248285">
              <a:lnSpc>
                <a:spcPct val="100000"/>
              </a:lnSpc>
              <a:spcBef>
                <a:spcPts val="1199"/>
              </a:spcBef>
              <a:buClr>
                <a:srgbClr val="DA5120"/>
              </a:buClr>
              <a:buFont typeface="Lucida Grande"/>
              <a:buChar char="-"/>
            </a:pPr>
            <a:r>
              <a:rPr lang="en-GB" sz="1800" spc="-1" dirty="0">
                <a:solidFill>
                  <a:srgbClr val="000000"/>
                </a:solidFill>
                <a:latin typeface="corbel"/>
              </a:rPr>
              <a:t>Which security framework works best for our business? </a:t>
            </a:r>
            <a:endParaRPr lang="en-GB" sz="1800" spc="-1" dirty="0">
              <a:latin typeface="Arial"/>
            </a:endParaRPr>
          </a:p>
          <a:p>
            <a:pPr marL="561340" lvl="1" indent="-248285">
              <a:lnSpc>
                <a:spcPct val="100000"/>
              </a:lnSpc>
              <a:spcBef>
                <a:spcPts val="1199"/>
              </a:spcBef>
              <a:buClr>
                <a:srgbClr val="DA5120"/>
              </a:buClr>
              <a:buFont typeface="Lucida Grande"/>
              <a:buChar char="-"/>
            </a:pPr>
            <a:r>
              <a:rPr lang="en-GB" sz="1800" spc="-1" dirty="0">
                <a:solidFill>
                  <a:srgbClr val="000000"/>
                </a:solidFill>
                <a:latin typeface="corbel"/>
              </a:rPr>
              <a:t>Some idiot left a laptop on a train – what do we do now? </a:t>
            </a:r>
            <a:endParaRPr lang="en-GB" sz="1800" spc="-1" dirty="0">
              <a:latin typeface="Arial"/>
            </a:endParaRPr>
          </a:p>
          <a:p>
            <a:pPr marL="561340" lvl="1" indent="-248285">
              <a:lnSpc>
                <a:spcPct val="100000"/>
              </a:lnSpc>
              <a:spcBef>
                <a:spcPts val="1199"/>
              </a:spcBef>
              <a:buClr>
                <a:srgbClr val="DA5120"/>
              </a:buClr>
              <a:buFont typeface="Lucida Grande"/>
              <a:buChar char="-"/>
            </a:pPr>
            <a:r>
              <a:rPr lang="en-GB" sz="1800" spc="-1" dirty="0">
                <a:solidFill>
                  <a:srgbClr val="000000"/>
                </a:solidFill>
                <a:latin typeface="corbel"/>
              </a:rPr>
              <a:t>Which of these four people bidding for our security contract is any good? </a:t>
            </a:r>
            <a:endParaRPr lang="en-GB" sz="1800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74387185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3F7DC9-4E57-F88C-765A-A71E4A8B4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9A587C4-6CFF-DA1B-8625-A06C285C15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Assessment</a:t>
            </a:r>
          </a:p>
        </p:txBody>
      </p:sp>
    </p:spTree>
    <p:extLst>
      <p:ext uri="{BB962C8B-B14F-4D97-AF65-F5344CB8AC3E}">
        <p14:creationId xmlns:p14="http://schemas.microsoft.com/office/powerpoint/2010/main" val="13636960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457200" y="286200"/>
            <a:ext cx="6935760" cy="68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2800" b="0" strike="noStrike" spc="-1">
                <a:solidFill>
                  <a:srgbClr val="FFFFFF"/>
                </a:solidFill>
                <a:latin typeface="corbel"/>
              </a:rPr>
              <a:t>Assessment</a:t>
            </a:r>
            <a:endParaRPr lang="en-GB" sz="2800" b="0" strike="noStrike" spc="-1"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457200" y="1222200"/>
            <a:ext cx="8227440" cy="327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6065" indent="-266065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 dirty="0">
                <a:solidFill>
                  <a:srgbClr val="000000"/>
                </a:solidFill>
                <a:latin typeface="corbel"/>
              </a:rPr>
              <a:t>Coursework (40%): </a:t>
            </a:r>
            <a:endParaRPr lang="en-GB" sz="2800" b="0" strike="noStrike" spc="-1" dirty="0">
              <a:latin typeface="Arial"/>
            </a:endParaRPr>
          </a:p>
          <a:p>
            <a:pPr marL="561340" lvl="1" indent="-248285">
              <a:lnSpc>
                <a:spcPct val="100000"/>
              </a:lnSpc>
              <a:spcBef>
                <a:spcPts val="1199"/>
              </a:spcBef>
              <a:buClr>
                <a:srgbClr val="DA5120"/>
              </a:buClr>
              <a:buFont typeface="Lucida Grande"/>
              <a:buChar char="-"/>
            </a:pPr>
            <a:r>
              <a:rPr lang="en-GB" sz="2400" b="0" strike="noStrike" spc="-1" dirty="0">
                <a:solidFill>
                  <a:srgbClr val="000000"/>
                </a:solidFill>
                <a:latin typeface="corbel"/>
              </a:rPr>
              <a:t>2,500 words individual report/case-study</a:t>
            </a:r>
            <a:endParaRPr lang="en-GB" sz="2400" b="0" strike="noStrike" spc="-1" dirty="0">
              <a:latin typeface="Arial"/>
            </a:endParaRPr>
          </a:p>
          <a:p>
            <a:pPr marL="561340" lvl="1" indent="-248285">
              <a:lnSpc>
                <a:spcPct val="100000"/>
              </a:lnSpc>
              <a:spcBef>
                <a:spcPts val="1199"/>
              </a:spcBef>
              <a:buClr>
                <a:srgbClr val="DA5120"/>
              </a:buClr>
              <a:buFont typeface="Lucida Grande"/>
              <a:buChar char="-"/>
            </a:pPr>
            <a:r>
              <a:rPr lang="en-GB" sz="2400" b="0" strike="noStrike" spc="-1" dirty="0">
                <a:solidFill>
                  <a:srgbClr val="000000"/>
                </a:solidFill>
                <a:latin typeface="corbel"/>
              </a:rPr>
              <a:t>Deadline in January (see Moodle)</a:t>
            </a:r>
          </a:p>
          <a:p>
            <a:pPr marL="561340" lvl="1" indent="-248285">
              <a:lnSpc>
                <a:spcPct val="100000"/>
              </a:lnSpc>
              <a:spcBef>
                <a:spcPts val="1199"/>
              </a:spcBef>
              <a:buClr>
                <a:srgbClr val="DA5120"/>
              </a:buClr>
              <a:buFont typeface="Lucida Grande"/>
              <a:buChar char="-"/>
            </a:pPr>
            <a:r>
              <a:rPr lang="en-GB" sz="2400" spc="-1" dirty="0">
                <a:solidFill>
                  <a:srgbClr val="000000"/>
                </a:solidFill>
                <a:latin typeface="corbel"/>
              </a:rPr>
              <a:t>I will be consulting you on how you want your feedback</a:t>
            </a:r>
            <a:endParaRPr lang="en-GB" sz="2400" b="0" strike="noStrike" spc="-1" dirty="0">
              <a:solidFill>
                <a:srgbClr val="000000"/>
              </a:solidFill>
              <a:latin typeface="corbel"/>
            </a:endParaRPr>
          </a:p>
          <a:p>
            <a:pPr marL="561340" lvl="1" indent="-248285">
              <a:lnSpc>
                <a:spcPct val="100000"/>
              </a:lnSpc>
              <a:spcBef>
                <a:spcPts val="1199"/>
              </a:spcBef>
              <a:buClr>
                <a:srgbClr val="DA5120"/>
              </a:buClr>
              <a:buFont typeface="Lucida Grande"/>
              <a:buChar char="-"/>
            </a:pPr>
            <a:r>
              <a:rPr lang="en-GB" sz="2800" b="0" strike="noStrike" spc="-1" dirty="0">
                <a:solidFill>
                  <a:srgbClr val="000000"/>
                </a:solidFill>
                <a:latin typeface="corbel"/>
              </a:rPr>
              <a:t>Examination  (60%): </a:t>
            </a:r>
            <a:endParaRPr lang="en-GB" sz="2800" b="0" strike="noStrike" spc="-1" dirty="0">
              <a:latin typeface="Arial"/>
            </a:endParaRPr>
          </a:p>
          <a:p>
            <a:pPr marL="561340" lvl="1" indent="-248285">
              <a:lnSpc>
                <a:spcPct val="100000"/>
              </a:lnSpc>
              <a:spcBef>
                <a:spcPts val="1199"/>
              </a:spcBef>
              <a:buClr>
                <a:srgbClr val="DA5120"/>
              </a:buClr>
              <a:buFont typeface="Lucida Grande"/>
              <a:buChar char="-"/>
            </a:pPr>
            <a:r>
              <a:rPr lang="en-GB" sz="2400" b="0" strike="noStrike" spc="-1" dirty="0">
                <a:solidFill>
                  <a:srgbClr val="000000"/>
                </a:solidFill>
                <a:latin typeface="corbel"/>
              </a:rPr>
              <a:t>2-hour final examination: format </a:t>
            </a:r>
            <a:r>
              <a:rPr lang="en-GB" sz="2400" b="0" strike="noStrike" spc="-1" dirty="0" err="1">
                <a:solidFill>
                  <a:srgbClr val="000000"/>
                </a:solidFill>
                <a:latin typeface="corbel"/>
              </a:rPr>
              <a:t>uncomfirmed</a:t>
            </a:r>
            <a:endParaRPr lang="en-GB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/>
          </p:nvPr>
        </p:nvSpPr>
        <p:spPr>
          <a:xfrm>
            <a:off x="529388" y="1222200"/>
            <a:ext cx="8155251" cy="3397926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 fontScale="77500" lnSpcReduction="20000"/>
          </a:bodyPr>
          <a:lstStyle/>
          <a:p>
            <a:pPr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</a:pPr>
            <a:r>
              <a:rPr lang="en-US" sz="2200" spc="-1" dirty="0">
                <a:solidFill>
                  <a:srgbClr val="000000"/>
                </a:solidFill>
              </a:rPr>
              <a:t>The summative assessment </a:t>
            </a:r>
            <a:r>
              <a:rPr lang="en-GB" sz="2200" spc="-1" dirty="0">
                <a:solidFill>
                  <a:srgbClr val="000000"/>
                </a:solidFill>
              </a:rPr>
              <a:t>asks to produce a 2,500-word report on a security incident that covers:</a:t>
            </a:r>
          </a:p>
          <a:p>
            <a:pPr marL="1270" lvl="2">
              <a:buClr>
                <a:srgbClr val="000000"/>
              </a:buClr>
              <a:buFont typeface="Arial"/>
              <a:buChar char="•"/>
            </a:pPr>
            <a:r>
              <a:rPr lang="en-US" sz="2200" spc="-1">
                <a:solidFill>
                  <a:srgbClr val="000000"/>
                </a:solidFill>
                <a:ea typeface="+mn-lt"/>
                <a:cs typeface="+mn-lt"/>
              </a:rPr>
              <a:t>Business context, including regulatory and legal context </a:t>
            </a:r>
            <a:endParaRPr lang="en-GB" sz="2200" spc="-1">
              <a:latin typeface="Arial"/>
              <a:cs typeface="Arial"/>
            </a:endParaRPr>
          </a:p>
          <a:p>
            <a:pPr marL="1270" lvl="2">
              <a:buClr>
                <a:srgbClr val="000000"/>
              </a:buClr>
              <a:buFont typeface="Arial"/>
              <a:buChar char="•"/>
            </a:pPr>
            <a:r>
              <a:rPr lang="en-US" sz="2200" spc="-1">
                <a:solidFill>
                  <a:srgbClr val="000000"/>
                </a:solidFill>
                <a:ea typeface="+mn-lt"/>
                <a:cs typeface="+mn-lt"/>
              </a:rPr>
              <a:t>Timeline of the incident and how it unfolded </a:t>
            </a:r>
            <a:endParaRPr lang="en-US"/>
          </a:p>
          <a:p>
            <a:pPr marL="1270" lvl="2">
              <a:buClr>
                <a:srgbClr val="000000"/>
              </a:buClr>
              <a:buFont typeface="Arial"/>
              <a:buChar char="•"/>
            </a:pPr>
            <a:r>
              <a:rPr lang="en-US" sz="2200" spc="-1" dirty="0">
                <a:solidFill>
                  <a:srgbClr val="000000"/>
                </a:solidFill>
                <a:ea typeface="+mn-lt"/>
                <a:cs typeface="+mn-lt"/>
              </a:rPr>
              <a:t>Impact of the incident on the business </a:t>
            </a:r>
            <a:endParaRPr lang="en-GB" dirty="0"/>
          </a:p>
          <a:p>
            <a:pPr marL="1270" lvl="2">
              <a:buClr>
                <a:srgbClr val="000000"/>
              </a:buClr>
              <a:buFont typeface="Arial"/>
              <a:buChar char="•"/>
            </a:pPr>
            <a:r>
              <a:rPr lang="en-US" sz="2200" spc="-1" dirty="0">
                <a:solidFill>
                  <a:srgbClr val="000000"/>
                </a:solidFill>
                <a:ea typeface="+mn-lt"/>
                <a:cs typeface="+mn-lt"/>
              </a:rPr>
              <a:t>Cause(s) of the incident, including the associated risks and any mitigation strategies that were in place </a:t>
            </a:r>
            <a:endParaRPr lang="en-GB" dirty="0">
              <a:ea typeface="+mn-lt"/>
              <a:cs typeface="+mn-lt"/>
            </a:endParaRPr>
          </a:p>
          <a:p>
            <a:pPr marL="1270" lvl="2">
              <a:buClr>
                <a:srgbClr val="000000"/>
              </a:buClr>
              <a:buFont typeface="Arial"/>
              <a:buChar char="•"/>
            </a:pPr>
            <a:r>
              <a:rPr lang="en-US" sz="2200" spc="-1" dirty="0">
                <a:solidFill>
                  <a:srgbClr val="000000"/>
                </a:solidFill>
                <a:ea typeface="+mn-lt"/>
                <a:cs typeface="+mn-lt"/>
              </a:rPr>
              <a:t>Failures or weaknesses in security management that the incident highlights and lessons that can be learnt </a:t>
            </a:r>
            <a:endParaRPr lang="en-GB" dirty="0"/>
          </a:p>
          <a:p>
            <a:pPr marL="1270" lvl="2">
              <a:buClr>
                <a:srgbClr val="000000"/>
              </a:buClr>
              <a:buChar char="•"/>
            </a:pPr>
            <a:r>
              <a:rPr lang="en-US" sz="2200" spc="-1" dirty="0">
                <a:solidFill>
                  <a:srgbClr val="000000"/>
                </a:solidFill>
                <a:ea typeface="+mn-lt"/>
                <a:cs typeface="+mn-lt"/>
              </a:rPr>
              <a:t>Suggestions for improvements to the security management processes that the business could implement </a:t>
            </a:r>
            <a:endParaRPr lang="en-US" dirty="0"/>
          </a:p>
          <a:p>
            <a:pPr marL="287020" lvl="2" indent="-285750">
              <a:buClr>
                <a:srgbClr val="000000"/>
              </a:buClr>
              <a:buChar char="•"/>
            </a:pPr>
            <a:endParaRPr lang="en-US" sz="2200" spc="-1" dirty="0">
              <a:latin typeface="corbel"/>
              <a:cs typeface="Arial"/>
            </a:endParaRPr>
          </a:p>
          <a:p>
            <a:pPr marL="457200" indent="-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endParaRPr lang="en-GB" sz="2800" b="0" strike="noStrike" spc="-1" dirty="0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</a:pPr>
            <a:endParaRPr lang="en-GB" sz="2800" b="0" strike="noStrike" spc="-1" dirty="0">
              <a:latin typeface="Arial"/>
            </a:endParaRPr>
          </a:p>
        </p:txBody>
      </p:sp>
      <p:sp>
        <p:nvSpPr>
          <p:cNvPr id="283" name="PlaceHolder 2"/>
          <p:cNvSpPr>
            <a:spLocks noGrp="1"/>
          </p:cNvSpPr>
          <p:nvPr>
            <p:ph type="title"/>
          </p:nvPr>
        </p:nvSpPr>
        <p:spPr>
          <a:xfrm>
            <a:off x="457200" y="286200"/>
            <a:ext cx="6935760" cy="68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FFFFFF"/>
                </a:solidFill>
                <a:latin typeface="corbel"/>
              </a:rPr>
              <a:t>Summative assessment</a:t>
            </a:r>
            <a:endParaRPr lang="en-GB" sz="28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BEF970AB-E51F-4E67-925A-9C33E0596CD0}" type="slidenum">
              <a:rPr/>
              <a:t>16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/>
          </p:nvPr>
        </p:nvSpPr>
        <p:spPr>
          <a:xfrm>
            <a:off x="457200" y="1222200"/>
            <a:ext cx="8227440" cy="327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457200" indent="-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orbel"/>
              </a:rPr>
              <a:t>The summative assessment AIS and mark scheme are on </a:t>
            </a:r>
            <a:r>
              <a:rPr lang="en-US" sz="2800" spc="-1" dirty="0">
                <a:solidFill>
                  <a:srgbClr val="000000"/>
                </a:solidFill>
                <a:latin typeface="corbel"/>
              </a:rPr>
              <a:t>M</a:t>
            </a:r>
            <a:r>
              <a:rPr lang="en-US" sz="2800" b="0" strike="noStrike" spc="-1" dirty="0">
                <a:solidFill>
                  <a:srgbClr val="000000"/>
                </a:solidFill>
                <a:latin typeface="corbel"/>
              </a:rPr>
              <a:t>oodle</a:t>
            </a:r>
            <a:endParaRPr lang="en-GB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orbel"/>
              </a:rPr>
              <a:t>An assignment guide will be published giving further details</a:t>
            </a:r>
            <a:endParaRPr lang="en-GB" sz="2800" b="0" strike="noStrike" spc="-1" dirty="0"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orbel"/>
              </a:rPr>
              <a:t>There will be a lecture devoted to this assessment.</a:t>
            </a:r>
            <a:endParaRPr lang="en-US" sz="2800" b="0" strike="noStrike" spc="-1" dirty="0">
              <a:latin typeface="corbel"/>
            </a:endParaRPr>
          </a:p>
          <a:p>
            <a:pPr marL="457200" indent="-457200">
              <a:spcBef>
                <a:spcPts val="1199"/>
              </a:spcBef>
              <a:buClr>
                <a:srgbClr val="000000"/>
              </a:buClr>
              <a:buChar char="•"/>
            </a:pPr>
            <a:r>
              <a:rPr lang="en-US" sz="2800" spc="-1" dirty="0">
                <a:latin typeface="corbel"/>
              </a:rPr>
              <a:t>Average mark for the last two years was 64 and 66.  Best mark ever was about 80. </a:t>
            </a:r>
          </a:p>
          <a:p>
            <a:pPr>
              <a:lnSpc>
                <a:spcPct val="100000"/>
              </a:lnSpc>
              <a:spcBef>
                <a:spcPts val="1199"/>
              </a:spcBef>
              <a:buNone/>
            </a:pPr>
            <a:endParaRPr lang="en-GB" sz="2800" b="0" strike="noStrike" spc="-1" dirty="0"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title"/>
          </p:nvPr>
        </p:nvSpPr>
        <p:spPr>
          <a:xfrm>
            <a:off x="457200" y="286200"/>
            <a:ext cx="6935760" cy="68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FFFFFF"/>
                </a:solidFill>
                <a:latin typeface="corbel"/>
              </a:rPr>
              <a:t>Summative assessment</a:t>
            </a:r>
            <a:endParaRPr lang="en-GB" sz="28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848A9C9-5AB2-4FCB-A1B2-2C7B90D71DB8}" type="slidenum">
              <a:rPr/>
              <a:t>17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laceHolder 2"/>
          <p:cNvSpPr>
            <a:spLocks noGrp="1"/>
          </p:cNvSpPr>
          <p:nvPr>
            <p:ph type="title"/>
          </p:nvPr>
        </p:nvSpPr>
        <p:spPr>
          <a:xfrm>
            <a:off x="457200" y="286200"/>
            <a:ext cx="6935760" cy="68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</a:pPr>
            <a:r>
              <a:rPr lang="en-US" sz="2800" b="0" strike="noStrike" spc="-1" dirty="0">
                <a:solidFill>
                  <a:srgbClr val="FFFFFF"/>
                </a:solidFill>
                <a:latin typeface="corbel"/>
              </a:rPr>
              <a:t>Summative assessment</a:t>
            </a:r>
            <a:r>
              <a:rPr lang="en-US" sz="2800" spc="-1" dirty="0">
                <a:solidFill>
                  <a:srgbClr val="FFFFFF"/>
                </a:solidFill>
                <a:latin typeface="corbel"/>
              </a:rPr>
              <a:t> 2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4848A9C9-5AB2-4FCB-A1B2-2C7B90D71DB8}" type="slidenum">
              <a:rPr/>
              <a:t>18</a:t>
            </a:fld>
            <a:endParaRPr/>
          </a:p>
        </p:txBody>
      </p:sp>
      <p:pic>
        <p:nvPicPr>
          <p:cNvPr id="2" name="Picture 1" descr="A book cover with a lock&#10;&#10;Description automatically generated">
            <a:extLst>
              <a:ext uri="{FF2B5EF4-FFF2-40B4-BE49-F238E27FC236}">
                <a16:creationId xmlns:a16="http://schemas.microsoft.com/office/drawing/2014/main" id="{906A355C-2347-4645-37E1-5CC51CD9B27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0126" y="0"/>
            <a:ext cx="3393649" cy="5143500"/>
          </a:xfrm>
          <a:prstGeom prst="rect">
            <a:avLst/>
          </a:prstGeom>
        </p:spPr>
      </p:pic>
      <p:sp>
        <p:nvSpPr>
          <p:cNvPr id="5" name="PlaceHolder 1">
            <a:extLst>
              <a:ext uri="{FF2B5EF4-FFF2-40B4-BE49-F238E27FC236}">
                <a16:creationId xmlns:a16="http://schemas.microsoft.com/office/drawing/2014/main" id="{F9B25B32-C695-CE51-2666-66C1519EFB24}"/>
              </a:ext>
            </a:extLst>
          </p:cNvPr>
          <p:cNvSpPr txBox="1">
            <a:spLocks/>
          </p:cNvSpPr>
          <p:nvPr/>
        </p:nvSpPr>
        <p:spPr>
          <a:xfrm>
            <a:off x="448475" y="1248375"/>
            <a:ext cx="5177986" cy="324406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indent="-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spc="-1" dirty="0">
                <a:solidFill>
                  <a:srgbClr val="000000"/>
                </a:solidFill>
                <a:latin typeface="corbel"/>
              </a:rPr>
              <a:t>Last year and the year before that, ten of the best reports were collected into a book and published. </a:t>
            </a:r>
            <a:endParaRPr lang="en-GB" sz="2000" spc="-1" dirty="0">
              <a:solidFill>
                <a:srgbClr val="000000"/>
              </a:solidFill>
              <a:latin typeface="Arial"/>
            </a:endParaRPr>
          </a:p>
          <a:p>
            <a:pPr marL="457200" indent="-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spc="-1" dirty="0">
                <a:latin typeface="corbel"/>
              </a:rPr>
              <a:t>I'll be doing it again this year. There will be </a:t>
            </a:r>
            <a:r>
              <a:rPr lang="en-US" sz="2000" spc="-1">
                <a:latin typeface="corbel"/>
              </a:rPr>
              <a:t>rules for entry </a:t>
            </a:r>
            <a:endParaRPr lang="en-GB"/>
          </a:p>
          <a:p>
            <a:pPr marL="457200" indent="-45720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000" spc="-1"/>
              <a:t>Ideally, I'll get to a proper peer-review </a:t>
            </a:r>
            <a:r>
              <a:rPr lang="en-GB" sz="2000" spc="-1" dirty="0"/>
              <a:t>system with each edition focusing on a 12 month period.  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0506405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A30E1E0-62EE-A7C5-DF10-CD0344054D96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GB" dirty="0"/>
              <a:t>I’m inclined to fully allow GenAI this year. </a:t>
            </a:r>
          </a:p>
          <a:p>
            <a:r>
              <a:rPr lang="en-GB" dirty="0"/>
              <a:t>However, the mark scheme and referencing system have both been rewritten to favour human skills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157DBC2-BC0F-F5C0-23AE-D9B0C2875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Summative assessment and GenAI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8CC32BA-67BD-291A-58ED-655DC5C1BCB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9BB3D-90E4-C946-BCF9-8FBC622A1A06}" type="slidenum">
              <a:rPr lang="en-GB" smtClean="0"/>
              <a:pPr/>
              <a:t>19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59636729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PlaceHolder 1"/>
          <p:cNvSpPr>
            <a:spLocks noGrp="1"/>
          </p:cNvSpPr>
          <p:nvPr>
            <p:ph type="title"/>
          </p:nvPr>
        </p:nvSpPr>
        <p:spPr>
          <a:xfrm>
            <a:off x="457200" y="286200"/>
            <a:ext cx="6935760" cy="68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GB" sz="2800" b="0" strike="noStrike" spc="-1" dirty="0">
                <a:solidFill>
                  <a:srgbClr val="FFFFFF"/>
                </a:solidFill>
                <a:latin typeface="corbel"/>
              </a:rPr>
              <a:t>Assessment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266" name="PlaceHolder 2"/>
          <p:cNvSpPr>
            <a:spLocks noGrp="1"/>
          </p:cNvSpPr>
          <p:nvPr>
            <p:ph/>
          </p:nvPr>
        </p:nvSpPr>
        <p:spPr>
          <a:xfrm>
            <a:off x="457200" y="1222200"/>
            <a:ext cx="8227440" cy="327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6065" indent="-266065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 dirty="0">
                <a:solidFill>
                  <a:srgbClr val="000000"/>
                </a:solidFill>
                <a:latin typeface="corbel"/>
              </a:rPr>
              <a:t>Two formative assessments </a:t>
            </a:r>
          </a:p>
          <a:p>
            <a:pPr marL="266065" indent="-266065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spc="-1" dirty="0">
                <a:solidFill>
                  <a:srgbClr val="000000"/>
                </a:solidFill>
                <a:latin typeface="corbel"/>
              </a:rPr>
              <a:t>Not compulsory and not for credit.</a:t>
            </a:r>
            <a:endParaRPr lang="en-GB" sz="2800" b="0" strike="noStrike" spc="-1" dirty="0">
              <a:solidFill>
                <a:srgbClr val="000000"/>
              </a:solidFill>
              <a:latin typeface="corbel"/>
            </a:endParaRPr>
          </a:p>
          <a:p>
            <a:pPr marL="266065" indent="-266065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2800" b="0" strike="noStrike" spc="-1" dirty="0">
                <a:solidFill>
                  <a:srgbClr val="000000"/>
                </a:solidFill>
                <a:latin typeface="corbel"/>
              </a:rPr>
              <a:t>One is the first half of the coursework</a:t>
            </a:r>
            <a:endParaRPr lang="en-GB" sz="2400" b="0" strike="noStrike" spc="-1" dirty="0">
              <a:latin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PlaceHolder 1"/>
          <p:cNvSpPr>
            <a:spLocks noGrp="1"/>
          </p:cNvSpPr>
          <p:nvPr>
            <p:ph type="title"/>
          </p:nvPr>
        </p:nvSpPr>
        <p:spPr>
          <a:xfrm>
            <a:off x="457200" y="286200"/>
            <a:ext cx="6935760" cy="68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FFFFFF"/>
                </a:solidFill>
                <a:latin typeface="corbel"/>
              </a:rPr>
              <a:t>Feedback on formative assignments</a:t>
            </a:r>
            <a:endParaRPr lang="en-GB" sz="2800" b="0" strike="noStrike" spc="-1">
              <a:latin typeface="Arial"/>
            </a:endParaRPr>
          </a:p>
        </p:txBody>
      </p:sp>
      <p:sp>
        <p:nvSpPr>
          <p:cNvPr id="272" name="PlaceHolder 2"/>
          <p:cNvSpPr>
            <a:spLocks noGrp="1"/>
          </p:cNvSpPr>
          <p:nvPr>
            <p:ph/>
          </p:nvPr>
        </p:nvSpPr>
        <p:spPr>
          <a:xfrm>
            <a:off x="457200" y="1222200"/>
            <a:ext cx="8227440" cy="327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GB" sz="1800" b="0" strike="noStrike" spc="-1"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199"/>
              </a:spcBef>
              <a:buClr>
                <a:srgbClr val="DA512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rgbClr val="DA5120"/>
                </a:solidFill>
                <a:latin typeface="corbel"/>
              </a:rPr>
              <a:t>Feedback will not be provided for late submissions</a:t>
            </a:r>
            <a:endParaRPr lang="en-GB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1800" b="0" strike="noStrike" spc="-1">
                <a:solidFill>
                  <a:srgbClr val="000000"/>
                </a:solidFill>
                <a:latin typeface="corbel"/>
              </a:rPr>
              <a:t>	</a:t>
            </a:r>
            <a:r>
              <a:rPr lang="en-US" sz="2400" b="0" strike="noStrike" spc="-1">
                <a:solidFill>
                  <a:srgbClr val="000000"/>
                </a:solidFill>
                <a:latin typeface="corbel"/>
              </a:rPr>
              <a:t>-  If you would like feedback, please submit by the deadline</a:t>
            </a:r>
            <a:endParaRPr lang="en-GB" sz="2400" b="0" strike="noStrike" spc="-1">
              <a:latin typeface="Arial"/>
            </a:endParaRPr>
          </a:p>
          <a:p>
            <a:pPr marL="285840" indent="-285840">
              <a:lnSpc>
                <a:spcPct val="100000"/>
              </a:lnSpc>
              <a:spcBef>
                <a:spcPts val="1199"/>
              </a:spcBef>
              <a:buClr>
                <a:srgbClr val="DA512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800" b="0" strike="noStrike" spc="-1">
                <a:solidFill>
                  <a:srgbClr val="DA5120"/>
                </a:solidFill>
                <a:latin typeface="corbel"/>
              </a:rPr>
              <a:t>Model answers will not be provided</a:t>
            </a:r>
            <a:endParaRPr lang="en-GB" sz="2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corbel"/>
              </a:rPr>
              <a:t>	-  In many cases, many answers are possible</a:t>
            </a: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r>
              <a:rPr lang="en-US" sz="2400" b="0" strike="noStrike" spc="-1">
                <a:solidFill>
                  <a:srgbClr val="000000"/>
                </a:solidFill>
                <a:latin typeface="corbel"/>
              </a:rPr>
              <a:t>	- Happy to discuss feedback received during office hours</a:t>
            </a:r>
            <a:endParaRPr lang="en-GB" sz="24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GB" sz="1800" b="0" strike="noStrike" spc="-1">
              <a:latin typeface="Arial"/>
            </a:endParaRPr>
          </a:p>
          <a:p>
            <a:pPr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GB" sz="18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DBB9554A-1760-47A7-918D-C44C0E996B6E}" type="slidenum">
              <a:rPr/>
              <a:t>21</a:t>
            </a:fld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ACB243-8DAA-7E30-3C0B-CEFD75685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18E7CAE3-B806-DFC0-F440-4D7DDE28E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Me</a:t>
            </a:r>
          </a:p>
        </p:txBody>
      </p:sp>
    </p:spTree>
    <p:extLst>
      <p:ext uri="{BB962C8B-B14F-4D97-AF65-F5344CB8AC3E}">
        <p14:creationId xmlns:p14="http://schemas.microsoft.com/office/powerpoint/2010/main" val="101623162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/>
          </p:nvPr>
        </p:nvSpPr>
        <p:spPr>
          <a:xfrm>
            <a:off x="457200" y="1222200"/>
            <a:ext cx="4762800" cy="327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5430" indent="-26543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latin typeface="corbel"/>
              </a:rPr>
              <a:t>Dr Joe Reddington (he/him)</a:t>
            </a:r>
            <a:endParaRPr lang="en-GB" sz="2800" b="0" strike="noStrike" spc="-1" dirty="0">
              <a:latin typeface="Arial"/>
            </a:endParaRPr>
          </a:p>
          <a:p>
            <a:pPr marL="265430" indent="-26543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pc="-1" dirty="0">
                <a:latin typeface="corbel"/>
              </a:rPr>
              <a:t>Part time</a:t>
            </a:r>
          </a:p>
          <a:p>
            <a:pPr marL="265430" indent="-26543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latin typeface="corbel"/>
              </a:rPr>
              <a:t>Contact:</a:t>
            </a:r>
            <a:endParaRPr lang="en-GB" sz="2800" b="0" strike="noStrike" spc="-1" dirty="0">
              <a:latin typeface="Arial"/>
            </a:endParaRPr>
          </a:p>
          <a:p>
            <a:pPr marL="560705" lvl="1" indent="-265430">
              <a:lnSpc>
                <a:spcPct val="100000"/>
              </a:lnSpc>
              <a:spcBef>
                <a:spcPts val="1199"/>
              </a:spcBef>
              <a:buClr>
                <a:srgbClr val="DA5120"/>
              </a:buClr>
              <a:buFont typeface="Lucida Grande"/>
              <a:buChar char="-"/>
            </a:pPr>
            <a:r>
              <a:rPr lang="en-US" sz="2400" b="0" strike="noStrike" spc="-1" dirty="0">
                <a:latin typeface="corbel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j.reddington@rhul.ac.uk</a:t>
            </a:r>
            <a:r>
              <a:rPr lang="en-US" sz="2400" b="0" strike="noStrike" spc="-1" dirty="0">
                <a:latin typeface="corbel"/>
              </a:rPr>
              <a:t> (</a:t>
            </a:r>
            <a:r>
              <a:rPr lang="en-US" spc="-1" dirty="0">
                <a:latin typeface="corbel"/>
              </a:rPr>
              <a:t>Inbox normally processed on Wednesdays</a:t>
            </a:r>
            <a:r>
              <a:rPr lang="en-US" sz="2400" b="0" strike="noStrike" spc="-1" dirty="0">
                <a:latin typeface="corbel"/>
              </a:rPr>
              <a:t>)</a:t>
            </a:r>
            <a:endParaRPr lang="en-GB" spc="-1" dirty="0">
              <a:latin typeface="Arial"/>
            </a:endParaRPr>
          </a:p>
          <a:p>
            <a:pPr marL="560705" lvl="1" indent="-265430">
              <a:lnSpc>
                <a:spcPct val="100000"/>
              </a:lnSpc>
              <a:spcBef>
                <a:spcPts val="1199"/>
              </a:spcBef>
              <a:buClr>
                <a:srgbClr val="DA5120"/>
              </a:buClr>
              <a:buFont typeface="Lucida Grande"/>
              <a:buChar char="-"/>
            </a:pPr>
            <a:r>
              <a:rPr lang="en-US" spc="-1" dirty="0">
                <a:latin typeface="corbel"/>
              </a:rPr>
              <a:t>Teams isn't for me </a:t>
            </a:r>
            <a:endParaRPr lang="en-GB" sz="2400" b="0" strike="noStrike" spc="-1" dirty="0">
              <a:latin typeface="Arial"/>
            </a:endParaRPr>
          </a:p>
          <a:p>
            <a:pPr marL="560705" lvl="1" indent="-265430">
              <a:lnSpc>
                <a:spcPct val="100000"/>
              </a:lnSpc>
              <a:spcBef>
                <a:spcPts val="1199"/>
              </a:spcBef>
              <a:buClr>
                <a:srgbClr val="DA5120"/>
              </a:buClr>
              <a:buFont typeface="Lucida Grande"/>
              <a:buChar char="-"/>
            </a:pPr>
            <a:r>
              <a:rPr lang="en-US" sz="2400" b="0" strike="noStrike" spc="-1" dirty="0">
                <a:latin typeface="corbel"/>
              </a:rPr>
              <a:t>Bedford </a:t>
            </a:r>
            <a:r>
              <a:rPr lang="en-US" spc="-1" dirty="0">
                <a:latin typeface="corbel"/>
              </a:rPr>
              <a:t>2.05</a:t>
            </a:r>
            <a:endParaRPr lang="en-US" sz="2400" b="0" strike="noStrike" spc="-1" dirty="0">
              <a:latin typeface="corbel"/>
            </a:endParaRPr>
          </a:p>
          <a:p>
            <a:pPr marL="29464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GB" sz="2800" b="0" strike="noStrike" spc="-1" dirty="0">
              <a:latin typeface="Arial"/>
            </a:endParaRPr>
          </a:p>
          <a:p>
            <a:pPr marL="29464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GB" sz="2800" b="0" strike="noStrike" spc="-1" dirty="0">
              <a:latin typeface="Arial"/>
            </a:endParaRPr>
          </a:p>
        </p:txBody>
      </p:sp>
      <p:sp>
        <p:nvSpPr>
          <p:cNvPr id="231" name="PlaceHolder 2"/>
          <p:cNvSpPr>
            <a:spLocks noGrp="1"/>
          </p:cNvSpPr>
          <p:nvPr>
            <p:ph type="title"/>
          </p:nvPr>
        </p:nvSpPr>
        <p:spPr>
          <a:xfrm>
            <a:off x="457200" y="286200"/>
            <a:ext cx="6935760" cy="68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FFFFFF"/>
                </a:solidFill>
                <a:latin typeface="corbel"/>
              </a:rPr>
              <a:t>About me</a:t>
            </a:r>
            <a:endParaRPr lang="en-GB" sz="2800" b="0" strike="noStrike" spc="-1">
              <a:latin typeface="Arial"/>
            </a:endParaRPr>
          </a:p>
        </p:txBody>
      </p:sp>
      <p:sp>
        <p:nvSpPr>
          <p:cNvPr id="232" name="Rectangle 231"/>
          <p:cNvSpPr/>
          <p:nvPr/>
        </p:nvSpPr>
        <p:spPr>
          <a:xfrm>
            <a:off x="4484160" y="2440440"/>
            <a:ext cx="180360" cy="23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r>
              <a:rPr lang="en-GB" sz="1800" b="0" strike="noStrike" spc="-1">
                <a:latin typeface="Arial"/>
              </a:rPr>
              <a:t> </a:t>
            </a:r>
          </a:p>
        </p:txBody>
      </p:sp>
      <p:pic>
        <p:nvPicPr>
          <p:cNvPr id="233" name="Picture 232"/>
          <p:cNvPicPr/>
          <p:nvPr/>
        </p:nvPicPr>
        <p:blipFill>
          <a:blip r:embed="rId4"/>
          <a:stretch/>
        </p:blipFill>
        <p:spPr>
          <a:xfrm>
            <a:off x="5312748" y="1743393"/>
            <a:ext cx="3733560" cy="277128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"/>
          </p:nvPr>
        </p:nvSpPr>
        <p:spPr>
          <a:xfrm>
            <a:off x="434520" y="4779000"/>
            <a:ext cx="213840" cy="213840"/>
          </a:xfrm>
          <a:prstGeom prst="rect">
            <a:avLst/>
          </a:prstGeom>
          <a:solidFill>
            <a:srgbClr val="EB641E"/>
          </a:solidFill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100000"/>
              </a:lnSpc>
              <a:buNone/>
              <a:defRPr lang="en-GB" sz="800" b="0" strike="noStrike" kern="1200" spc="-1">
                <a:solidFill>
                  <a:srgbClr val="FFFFFF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1B64-6DE4-49F9-AB88-1CD23A4E906F}" type="slidenum">
              <a:rPr lang="en-GB" smtClean="0"/>
              <a:pPr/>
              <a:t>23</a:t>
            </a:fld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/>
          </p:nvPr>
        </p:nvSpPr>
        <p:spPr>
          <a:xfrm>
            <a:off x="457200" y="1222200"/>
            <a:ext cx="8227440" cy="327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6040" indent="-26604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orbel"/>
              </a:rPr>
              <a:t>Can I talk to Computer Scientists?</a:t>
            </a:r>
            <a:endParaRPr lang="en-GB" sz="2800" b="0" strike="noStrike" spc="-1">
              <a:latin typeface="Arial"/>
            </a:endParaRPr>
          </a:p>
          <a:p>
            <a:pPr marL="266040" indent="-26604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orbel"/>
              </a:rPr>
              <a:t>Do I know anything about business and risk?</a:t>
            </a:r>
            <a:endParaRPr lang="en-GB" sz="2800" b="0" strike="noStrike" spc="-1">
              <a:latin typeface="Arial"/>
            </a:endParaRPr>
          </a:p>
          <a:p>
            <a:pPr marL="266040" indent="-26604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orbel"/>
              </a:rPr>
              <a:t>Can I teach well?  </a:t>
            </a:r>
            <a:endParaRPr lang="en-GB" sz="2800" b="0" strike="noStrike" spc="-1">
              <a:latin typeface="Arial"/>
            </a:endParaRPr>
          </a:p>
          <a:p>
            <a:pPr marL="29520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GB" sz="2400" b="0" strike="noStrike" spc="-1">
              <a:latin typeface="Arial"/>
            </a:endParaRPr>
          </a:p>
          <a:p>
            <a:pPr marL="29520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GB" sz="2800" b="0" strike="noStrike" spc="-1">
              <a:latin typeface="Arial"/>
            </a:endParaRPr>
          </a:p>
          <a:p>
            <a:pPr marL="29520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GB" sz="2800" b="0" strike="noStrike" spc="-1">
              <a:latin typeface="Arial"/>
            </a:endParaRPr>
          </a:p>
        </p:txBody>
      </p:sp>
      <p:sp>
        <p:nvSpPr>
          <p:cNvPr id="235" name="PlaceHolder 2"/>
          <p:cNvSpPr>
            <a:spLocks noGrp="1"/>
          </p:cNvSpPr>
          <p:nvPr>
            <p:ph type="title"/>
          </p:nvPr>
        </p:nvSpPr>
        <p:spPr>
          <a:xfrm>
            <a:off x="457200" y="286200"/>
            <a:ext cx="6935760" cy="68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FFFFFF"/>
                </a:solidFill>
                <a:latin typeface="corbel"/>
              </a:rPr>
              <a:t>About me that you are interested in.</a:t>
            </a:r>
            <a:endParaRPr lang="en-GB" sz="2800" b="0" strike="noStrike" spc="-1">
              <a:latin typeface="Arial"/>
            </a:endParaRPr>
          </a:p>
        </p:txBody>
      </p:sp>
      <p:sp>
        <p:nvSpPr>
          <p:cNvPr id="236" name="Rectangle 235"/>
          <p:cNvSpPr/>
          <p:nvPr/>
        </p:nvSpPr>
        <p:spPr>
          <a:xfrm>
            <a:off x="4484160" y="2440440"/>
            <a:ext cx="180360" cy="23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>
          <a:xfrm>
            <a:off x="434520" y="4779000"/>
            <a:ext cx="213840" cy="213840"/>
          </a:xfrm>
          <a:prstGeom prst="rect">
            <a:avLst/>
          </a:prstGeom>
          <a:solidFill>
            <a:srgbClr val="EB641E"/>
          </a:solidFill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100000"/>
              </a:lnSpc>
              <a:buNone/>
              <a:defRPr lang="en-GB" sz="800" b="0" strike="noStrike" kern="1200" spc="-1">
                <a:solidFill>
                  <a:srgbClr val="FFFFFF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1B64-6DE4-49F9-AB88-1CD23A4E906F}" type="slidenum">
              <a:rPr lang="en-GB" smtClean="0"/>
              <a:pPr/>
              <a:t>24</a:t>
            </a:fld>
            <a:endParaRPr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/>
          </p:nvPr>
        </p:nvSpPr>
        <p:spPr>
          <a:xfrm>
            <a:off x="5678640" y="1409400"/>
            <a:ext cx="3006000" cy="327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1199"/>
              </a:spcBef>
              <a:buNone/>
            </a:pPr>
            <a:endParaRPr lang="en-GB" sz="2800" b="0" strike="noStrike" spc="-1">
              <a:latin typeface="Arial"/>
            </a:endParaRPr>
          </a:p>
          <a:p>
            <a:pPr marL="266040" indent="-26604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orbel"/>
              </a:rPr>
              <a:t>CS/Maths background</a:t>
            </a:r>
            <a:endParaRPr lang="en-GB" sz="2800" b="0" strike="noStrike" spc="-1">
              <a:latin typeface="Arial"/>
            </a:endParaRPr>
          </a:p>
          <a:p>
            <a:pPr marL="266040" indent="-26604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>
                <a:solidFill>
                  <a:srgbClr val="000000"/>
                </a:solidFill>
                <a:latin typeface="corbel"/>
              </a:rPr>
              <a:t>I write code every working day</a:t>
            </a:r>
            <a:endParaRPr lang="en-GB" sz="2800" b="0" strike="noStrike" spc="-1">
              <a:latin typeface="Arial"/>
            </a:endParaRPr>
          </a:p>
          <a:p>
            <a:pPr marL="295200">
              <a:lnSpc>
                <a:spcPct val="100000"/>
              </a:lnSpc>
              <a:spcBef>
                <a:spcPts val="1199"/>
              </a:spcBef>
              <a:buNone/>
              <a:tabLst>
                <a:tab pos="0" algn="l"/>
              </a:tabLst>
            </a:pPr>
            <a:endParaRPr lang="en-GB" sz="2800" b="0" strike="noStrike" spc="-1">
              <a:latin typeface="Arial"/>
            </a:endParaRPr>
          </a:p>
        </p:txBody>
      </p:sp>
      <p:sp>
        <p:nvSpPr>
          <p:cNvPr id="238" name="PlaceHolder 2"/>
          <p:cNvSpPr>
            <a:spLocks noGrp="1"/>
          </p:cNvSpPr>
          <p:nvPr>
            <p:ph type="title"/>
          </p:nvPr>
        </p:nvSpPr>
        <p:spPr>
          <a:xfrm>
            <a:off x="457200" y="286200"/>
            <a:ext cx="6935760" cy="68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FFFFFF"/>
                </a:solidFill>
                <a:latin typeface="corbel"/>
              </a:rPr>
              <a:t>Can I talk to Computer Scientists? </a:t>
            </a:r>
            <a:endParaRPr lang="en-GB" sz="2800" b="0" strike="noStrike" spc="-1">
              <a:latin typeface="Arial"/>
            </a:endParaRPr>
          </a:p>
        </p:txBody>
      </p:sp>
      <p:sp>
        <p:nvSpPr>
          <p:cNvPr id="239" name="Rectangle 238"/>
          <p:cNvSpPr/>
          <p:nvPr/>
        </p:nvSpPr>
        <p:spPr>
          <a:xfrm>
            <a:off x="4484160" y="2440440"/>
            <a:ext cx="180360" cy="23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240" name="Picture 239"/>
          <p:cNvPicPr/>
          <p:nvPr/>
        </p:nvPicPr>
        <p:blipFill>
          <a:blip r:embed="rId3"/>
          <a:stretch/>
        </p:blipFill>
        <p:spPr>
          <a:xfrm>
            <a:off x="360000" y="1099800"/>
            <a:ext cx="5318280" cy="375984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"/>
          </p:nvPr>
        </p:nvSpPr>
        <p:spPr>
          <a:xfrm>
            <a:off x="434520" y="4779000"/>
            <a:ext cx="213840" cy="213840"/>
          </a:xfrm>
          <a:prstGeom prst="rect">
            <a:avLst/>
          </a:prstGeom>
          <a:solidFill>
            <a:srgbClr val="EB641E"/>
          </a:solidFill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100000"/>
              </a:lnSpc>
              <a:buNone/>
              <a:defRPr lang="en-GB" sz="800" b="0" strike="noStrike" kern="1200" spc="-1">
                <a:solidFill>
                  <a:srgbClr val="FFFFFF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1B64-6DE4-49F9-AB88-1CD23A4E906F}" type="slidenum">
              <a:rPr lang="en-GB" smtClean="0"/>
              <a:pPr/>
              <a:t>25</a:t>
            </a:fld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/>
          </p:nvPr>
        </p:nvSpPr>
        <p:spPr>
          <a:xfrm>
            <a:off x="3060000" y="1260000"/>
            <a:ext cx="5939640" cy="30596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266040" indent="-26604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orbel"/>
              </a:rPr>
              <a:t>Since 2014 I’ve run the limited company/charity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corbel"/>
              </a:rPr>
              <a:t>eQuality</a:t>
            </a:r>
            <a:r>
              <a:rPr lang="en-US" sz="2800" b="0" strike="noStrike" spc="-1" dirty="0">
                <a:solidFill>
                  <a:srgbClr val="000000"/>
                </a:solidFill>
                <a:latin typeface="corbel"/>
              </a:rPr>
              <a:t> Time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242" name="PlaceHolder 2"/>
          <p:cNvSpPr>
            <a:spLocks noGrp="1"/>
          </p:cNvSpPr>
          <p:nvPr>
            <p:ph type="title"/>
          </p:nvPr>
        </p:nvSpPr>
        <p:spPr>
          <a:xfrm>
            <a:off x="457200" y="286200"/>
            <a:ext cx="6935760" cy="68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FFFFFF"/>
                </a:solidFill>
                <a:latin typeface="corbel"/>
              </a:rPr>
              <a:t>Do I know anything about business?</a:t>
            </a:r>
            <a:endParaRPr lang="en-GB" sz="2800" b="0" strike="noStrike" spc="-1">
              <a:latin typeface="Arial"/>
            </a:endParaRPr>
          </a:p>
        </p:txBody>
      </p:sp>
      <p:sp>
        <p:nvSpPr>
          <p:cNvPr id="243" name="Rectangle 242"/>
          <p:cNvSpPr/>
          <p:nvPr/>
        </p:nvSpPr>
        <p:spPr>
          <a:xfrm>
            <a:off x="4484160" y="2440440"/>
            <a:ext cx="180360" cy="23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pic>
        <p:nvPicPr>
          <p:cNvPr id="244" name="Picture 243"/>
          <p:cNvPicPr/>
          <p:nvPr/>
        </p:nvPicPr>
        <p:blipFill>
          <a:blip r:embed="rId3"/>
          <a:stretch/>
        </p:blipFill>
        <p:spPr>
          <a:xfrm>
            <a:off x="0" y="3948840"/>
            <a:ext cx="9142920" cy="1194480"/>
          </a:xfrm>
          <a:prstGeom prst="rect">
            <a:avLst/>
          </a:prstGeom>
          <a:ln w="0">
            <a:noFill/>
          </a:ln>
        </p:spPr>
      </p:pic>
      <p:pic>
        <p:nvPicPr>
          <p:cNvPr id="245" name="Picture 244"/>
          <p:cNvPicPr/>
          <p:nvPr/>
        </p:nvPicPr>
        <p:blipFill>
          <a:blip r:embed="rId4"/>
          <a:stretch/>
        </p:blipFill>
        <p:spPr>
          <a:xfrm>
            <a:off x="0" y="857880"/>
            <a:ext cx="2879640" cy="4361760"/>
          </a:xfrm>
          <a:prstGeom prst="rect">
            <a:avLst/>
          </a:prstGeom>
          <a:ln w="0">
            <a:noFill/>
          </a:ln>
        </p:spPr>
      </p:pic>
      <p:sp>
        <p:nvSpPr>
          <p:cNvPr id="4" name="PlaceHolder 3"/>
          <p:cNvSpPr>
            <a:spLocks noGrp="1"/>
          </p:cNvSpPr>
          <p:nvPr>
            <p:ph type="sldNum" idx="1"/>
          </p:nvPr>
        </p:nvSpPr>
        <p:spPr>
          <a:xfrm>
            <a:off x="434520" y="4779000"/>
            <a:ext cx="213840" cy="213840"/>
          </a:xfrm>
          <a:prstGeom prst="rect">
            <a:avLst/>
          </a:prstGeom>
          <a:solidFill>
            <a:srgbClr val="EB641E"/>
          </a:solidFill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100000"/>
              </a:lnSpc>
              <a:buNone/>
              <a:defRPr lang="en-GB" sz="800" b="0" strike="noStrike" kern="1200" spc="-1">
                <a:solidFill>
                  <a:srgbClr val="FFFFFF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1B64-6DE4-49F9-AB88-1CD23A4E906F}" type="slidenum">
              <a:rPr lang="en-GB" smtClean="0"/>
              <a:pPr/>
              <a:t>26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PlaceHolder 1"/>
          <p:cNvSpPr>
            <a:spLocks noGrp="1"/>
          </p:cNvSpPr>
          <p:nvPr>
            <p:ph type="title"/>
          </p:nvPr>
        </p:nvSpPr>
        <p:spPr>
          <a:xfrm>
            <a:off x="360000" y="286200"/>
            <a:ext cx="7032960" cy="68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FFFFFF"/>
                </a:solidFill>
                <a:latin typeface="corbel"/>
              </a:rPr>
              <a:t>Can I teach well? </a:t>
            </a:r>
            <a:endParaRPr lang="en-GB" sz="2800" b="0" strike="noStrike" spc="-1">
              <a:latin typeface="Arial"/>
            </a:endParaRPr>
          </a:p>
        </p:txBody>
      </p:sp>
      <p:sp>
        <p:nvSpPr>
          <p:cNvPr id="247" name="Rectangle 246"/>
          <p:cNvSpPr/>
          <p:nvPr/>
        </p:nvSpPr>
        <p:spPr>
          <a:xfrm>
            <a:off x="4484160" y="2440440"/>
            <a:ext cx="180360" cy="2322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/>
          <a:lstStyle/>
          <a:p>
            <a:endParaRPr lang="en-GB"/>
          </a:p>
        </p:txBody>
      </p:sp>
      <p:sp>
        <p:nvSpPr>
          <p:cNvPr id="248" name="PlaceHolder 12"/>
          <p:cNvSpPr/>
          <p:nvPr/>
        </p:nvSpPr>
        <p:spPr>
          <a:xfrm>
            <a:off x="540000" y="1260000"/>
            <a:ext cx="3006000" cy="3270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t">
            <a:noAutofit/>
          </a:bodyPr>
          <a:lstStyle/>
          <a:p>
            <a:pPr>
              <a:lnSpc>
                <a:spcPct val="100000"/>
              </a:lnSpc>
              <a:spcBef>
                <a:spcPts val="1199"/>
              </a:spcBef>
              <a:buNone/>
            </a:pPr>
            <a:endParaRPr lang="en-GB" sz="2800" b="0" strike="noStrike" spc="-1">
              <a:latin typeface="Arial"/>
            </a:endParaRPr>
          </a:p>
          <a:p>
            <a:pPr marL="265430" indent="-26543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corbel"/>
              </a:rPr>
              <a:t>Yes</a:t>
            </a:r>
            <a:endParaRPr lang="en-GB" sz="2800" b="0" strike="noStrike" spc="-1" dirty="0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>
          <a:xfrm>
            <a:off x="434520" y="4779000"/>
            <a:ext cx="213840" cy="213840"/>
          </a:xfrm>
          <a:prstGeom prst="rect">
            <a:avLst/>
          </a:prstGeom>
          <a:solidFill>
            <a:srgbClr val="EB641E"/>
          </a:solidFill>
          <a:ln w="0">
            <a:noFill/>
          </a:ln>
        </p:spPr>
        <p:txBody>
          <a:bodyPr lIns="0" tIns="0" rIns="0" bIns="0" anchor="ctr">
            <a:noAutofit/>
          </a:bodyPr>
          <a:lstStyle>
            <a:defPPr>
              <a:defRPr lang="en-US"/>
            </a:defPPr>
            <a:lvl1pPr marL="0" algn="ctr" defTabSz="914400" rtl="0" eaLnBrk="1" latinLnBrk="0" hangingPunct="1">
              <a:lnSpc>
                <a:spcPct val="100000"/>
              </a:lnSpc>
              <a:buNone/>
              <a:defRPr lang="en-GB" sz="800" b="0" strike="noStrike" kern="1200" spc="-1">
                <a:solidFill>
                  <a:srgbClr val="FFFFFF"/>
                </a:solidFill>
                <a:latin typeface="corbel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3F461B64-6DE4-49F9-AB88-1CD23A4E906F}" type="slidenum">
              <a:rPr lang="en-GB" smtClean="0"/>
              <a:pPr/>
              <a:t>27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/>
          </p:nvPr>
        </p:nvSpPr>
        <p:spPr>
          <a:xfrm>
            <a:off x="457200" y="1222200"/>
            <a:ext cx="8227440" cy="3270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/>
          <a:p>
            <a:pPr marL="0" indent="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None/>
            </a:pPr>
            <a:r>
              <a:rPr lang="en-GB" sz="3600" spc="-1" dirty="0">
                <a:solidFill>
                  <a:srgbClr val="000000"/>
                </a:solidFill>
                <a:latin typeface="corbel"/>
              </a:rPr>
              <a:t>Directly after lectures so: </a:t>
            </a:r>
          </a:p>
          <a:p>
            <a:pPr marL="285750" indent="-28575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3600" spc="-1" dirty="0">
                <a:solidFill>
                  <a:srgbClr val="000000"/>
                </a:solidFill>
                <a:latin typeface="corbel"/>
              </a:rPr>
              <a:t>Monday 2-3pm (online)</a:t>
            </a:r>
          </a:p>
          <a:p>
            <a:pPr marL="285750" indent="-285750">
              <a:lnSpc>
                <a:spcPct val="100000"/>
              </a:lnSpc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GB" sz="3600" spc="-1" dirty="0">
                <a:solidFill>
                  <a:srgbClr val="000000"/>
                </a:solidFill>
                <a:latin typeface="corbel"/>
              </a:rPr>
              <a:t>Fridays  3-4pm (online/in person)</a:t>
            </a:r>
          </a:p>
        </p:txBody>
      </p:sp>
      <p:sp>
        <p:nvSpPr>
          <p:cNvPr id="274" name="PlaceHolder 2"/>
          <p:cNvSpPr>
            <a:spLocks noGrp="1"/>
          </p:cNvSpPr>
          <p:nvPr>
            <p:ph type="title"/>
          </p:nvPr>
        </p:nvSpPr>
        <p:spPr>
          <a:xfrm>
            <a:off x="457200" y="286200"/>
            <a:ext cx="6935760" cy="689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>
              <a:lnSpc>
                <a:spcPct val="100000"/>
              </a:lnSpc>
              <a:buNone/>
            </a:pPr>
            <a:r>
              <a:rPr lang="en-US" sz="2800" b="0" strike="noStrike" spc="-1">
                <a:solidFill>
                  <a:srgbClr val="FFFFFF"/>
                </a:solidFill>
                <a:latin typeface="corbel"/>
              </a:rPr>
              <a:t>Office hours</a:t>
            </a:r>
            <a:endParaRPr lang="en-GB" sz="2800" b="0" strike="noStrike" spc="-1"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lstStyle/>
          <a:p>
            <a:fld id="{6BF0EE81-30C2-45B7-918B-E3B0B727CDD0}" type="slidenum">
              <a:rPr/>
              <a:t>28</a:t>
            </a:fld>
            <a:endParaRPr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F2A2EE-2530-4161-CE17-A223601CB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0376D08-E01A-04BD-5FE6-5F0915982B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Module Culture</a:t>
            </a:r>
          </a:p>
        </p:txBody>
      </p:sp>
    </p:spTree>
    <p:extLst>
      <p:ext uri="{BB962C8B-B14F-4D97-AF65-F5344CB8AC3E}">
        <p14:creationId xmlns:p14="http://schemas.microsoft.com/office/powerpoint/2010/main" val="3944915946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47602F-4D1C-C16F-B021-8CFBE0A28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58E1C270-0B87-E122-94FE-77A614B8F9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Questions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D598C0-5D48-2F8B-6686-9B7F5FCD203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9BB3D-90E4-C946-BCF9-8FBC622A1A06}" type="slidenum">
              <a:rPr lang="en-GB" smtClean="0"/>
              <a:pPr/>
              <a:t>30</a:t>
            </a:fld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3F84B7-D4A1-0F65-F540-4A7EF91432DF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 marL="265430" indent="-265430"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pc="-1" dirty="0">
                <a:solidFill>
                  <a:srgbClr val="000000"/>
                </a:solidFill>
                <a:latin typeface="corbel"/>
              </a:rPr>
              <a:t>A lecture with fewer than 16 questions has failed.</a:t>
            </a:r>
            <a:endParaRPr lang="en-GB" spc="-1" dirty="0">
              <a:latin typeface="Arial"/>
            </a:endParaRPr>
          </a:p>
          <a:p>
            <a:pPr marL="265430" indent="-265430"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pc="-1" dirty="0">
                <a:solidFill>
                  <a:srgbClr val="000000"/>
                </a:solidFill>
                <a:latin typeface="corbel"/>
              </a:rPr>
              <a:t>I leave time at the start of every session so people who watched the recording/people who thought about it later/people who emailed, can have their questions batched up.   </a:t>
            </a:r>
          </a:p>
          <a:p>
            <a:pPr marL="265430" indent="-265430">
              <a:spcBef>
                <a:spcPts val="1199"/>
              </a:spcBef>
              <a:buClr>
                <a:srgbClr val="000000"/>
              </a:buClr>
              <a:buFont typeface="Arial"/>
              <a:buChar char="•"/>
            </a:pPr>
            <a:r>
              <a:rPr lang="en-US" spc="-1" dirty="0">
                <a:solidFill>
                  <a:srgbClr val="000000"/>
                </a:solidFill>
                <a:latin typeface="corbel"/>
              </a:rPr>
              <a:t>Several lectures this year will be </a:t>
            </a:r>
            <a:r>
              <a:rPr lang="en-US" i="1" spc="-1" dirty="0">
                <a:solidFill>
                  <a:srgbClr val="000000"/>
                </a:solidFill>
                <a:latin typeface="corbel"/>
              </a:rPr>
              <a:t>fully</a:t>
            </a:r>
            <a:r>
              <a:rPr lang="en-US" spc="-1" dirty="0">
                <a:solidFill>
                  <a:srgbClr val="000000"/>
                </a:solidFill>
                <a:latin typeface="corbel"/>
              </a:rPr>
              <a:t> Q&amp;A</a:t>
            </a:r>
            <a:endParaRPr lang="en-GB" spc="-1" dirty="0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652589136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15965-7F6C-1690-4977-22011004FA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DEE2F7B-9D05-26B8-2C6A-D2BD6E9FBA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Attendance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473870A-69D6-2A99-837F-485CC03F6C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9BB3D-90E4-C946-BCF9-8FBC622A1A06}" type="slidenum">
              <a:rPr lang="en-GB" smtClean="0"/>
              <a:pPr/>
              <a:t>31</a:t>
            </a:fld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FD4AF5B-9B27-8A33-2F72-55E110A2EA5F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lang="en-GB" dirty="0"/>
              <a:t>Some people learn better from lecturers and interactivity </a:t>
            </a:r>
          </a:p>
          <a:p>
            <a:r>
              <a:rPr lang="en-GB" dirty="0"/>
              <a:t>Some learn better from reading the books </a:t>
            </a:r>
          </a:p>
          <a:p>
            <a:r>
              <a:rPr lang="en-GB" dirty="0"/>
              <a:t>Some learn better from watching videos at home. </a:t>
            </a:r>
          </a:p>
          <a:p>
            <a:pPr marL="0" indent="0">
              <a:buNone/>
            </a:pPr>
            <a:r>
              <a:rPr lang="en-GB" dirty="0"/>
              <a:t>These are all entirely valid.  However, I need to know who is in the room. </a:t>
            </a:r>
          </a:p>
        </p:txBody>
      </p:sp>
    </p:spTree>
    <p:extLst>
      <p:ext uri="{BB962C8B-B14F-4D97-AF65-F5344CB8AC3E}">
        <p14:creationId xmlns:p14="http://schemas.microsoft.com/office/powerpoint/2010/main" val="4911045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50AE78-A8E7-69D5-4DC0-E71201BF38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59E4731-3E41-D794-BD14-1E313A9E72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Attendance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A855298-C2E6-FE51-3897-FD6AB2714DD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9BB3D-90E4-C946-BCF9-8FBC622A1A06}" type="slidenum">
              <a:rPr lang="en-GB" smtClean="0"/>
              <a:pPr/>
              <a:t>32</a:t>
            </a:fld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7A212CE-25E6-8163-52D0-79252846DB67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 marL="0" indent="0">
              <a:buNone/>
            </a:pPr>
            <a:r>
              <a:rPr lang="en-GB" dirty="0"/>
              <a:t>To do this job well I need to know who is in the room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Am I disproportionately missing people with access needs?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Am I disproportionately missing EAL students?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I don’t care about your personal attendance; I care about good data.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 dirty="0"/>
              <a:t>So we use </a:t>
            </a:r>
            <a:r>
              <a:rPr lang="en-GB" dirty="0">
                <a:hlinkClick r:id="rId2"/>
              </a:rPr>
              <a:t>CASPER</a:t>
            </a:r>
            <a:r>
              <a:rPr lang="en-GB" dirty="0"/>
              <a:t>. </a:t>
            </a:r>
          </a:p>
          <a:p>
            <a:pPr marL="0" indent="0">
              <a:buNone/>
            </a:pP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39783843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948FF4-FC71-E017-10A5-FD1A657CA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057905C-C7C0-AFA2-BCF2-2FD9A21A00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Prayer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28F0CFD-0F77-BB4D-F353-9F72156BF3F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9BB3D-90E4-C946-BCF9-8FBC622A1A06}" type="slidenum">
              <a:rPr lang="en-GB" smtClean="0"/>
              <a:pPr/>
              <a:t>33</a:t>
            </a:fld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DEBBFC-4BD5-B2FD-7C7C-51D5CDF12F9D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pPr marL="0" indent="0">
              <a:buNone/>
            </a:pPr>
            <a:endParaRPr lang="en-GB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6727410-A3C5-E436-A4E5-4D157AC127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9858" y="1163298"/>
            <a:ext cx="6236112" cy="3399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572554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98B1F4E7-5C81-097F-6496-E9B7894BC50C}"/>
              </a:ext>
            </a:extLst>
          </p:cNvPr>
          <p:cNvSpPr>
            <a:spLocks noGrp="1"/>
          </p:cNvSpPr>
          <p:nvPr>
            <p:ph idx="11"/>
          </p:nvPr>
        </p:nvSpPr>
        <p:spPr/>
        <p:txBody>
          <a:bodyPr vert="horz" lIns="0" tIns="0" rIns="0" bIns="0" rtlCol="0" anchor="t">
            <a:noAutofit/>
          </a:bodyPr>
          <a:lstStyle/>
          <a:p>
            <a:pPr marL="287655" indent="-323850"/>
            <a:r>
              <a:rPr lang="en-US"/>
              <a:t>Please read this Reddit thread before Friday: </a:t>
            </a:r>
            <a:r>
              <a:rPr lang="en-US">
                <a:hlinkClick r:id="rId2"/>
              </a:rPr>
              <a:t>https://www.reddit.com/r/LegalAdviceUK/comments/1joxfdy/being_approached_by_ex_employer_to_fix_system/</a:t>
            </a:r>
            <a:r>
              <a:rPr lang="en-US"/>
              <a:t> 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D01A29-3CB9-4ED2-1C52-6FBF96FCE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 readings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713D37-87D5-F516-DC20-21FEE4DD89C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9BB3D-90E4-C946-BCF9-8FBC622A1A06}" type="slidenum">
              <a:rPr lang="en-GB" smtClean="0"/>
              <a:pPr/>
              <a:t>34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72479505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216F89-C858-E826-849D-143C7A3D70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A37E4F23-9932-4820-C302-C94CA4F9D73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49BB3D-90E4-C946-BCF9-8FBC622A1A06}" type="slidenum">
              <a:rPr lang="en-GB" smtClean="0"/>
              <a:pPr/>
              <a:t>35</a:t>
            </a:fld>
            <a:endParaRPr lang="en-GB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171479-D460-E2C7-9286-1DD2CAF5FB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0" tIns="0" rIns="0" bIns="0" rtlCol="0" anchor="t">
            <a:normAutofit/>
          </a:bodyPr>
          <a:lstStyle/>
          <a:p>
            <a:pPr marL="266065" indent="-266065" fontAlgn="base"/>
            <a:r>
              <a:rPr lang="en-US" i="1"/>
              <a:t>Introduce the module and myself</a:t>
            </a:r>
            <a:r>
              <a:rPr lang="en-GB" i="1" dirty="0"/>
              <a:t>​</a:t>
            </a:r>
            <a:endParaRPr lang="en-US"/>
          </a:p>
          <a:p>
            <a:pPr fontAlgn="base"/>
            <a:r>
              <a:rPr lang="en-US" i="1" dirty="0"/>
              <a:t>Explain the high-level and weekly structure</a:t>
            </a:r>
            <a:r>
              <a:rPr lang="en-GB" i="1" dirty="0"/>
              <a:t>​</a:t>
            </a:r>
          </a:p>
          <a:p>
            <a:pPr marL="266065" indent="-266065" fontAlgn="base"/>
            <a:r>
              <a:rPr lang="en-US" i="1"/>
              <a:t>Explain how the module is assessed</a:t>
            </a:r>
            <a:r>
              <a:rPr lang="en-GB" i="1" dirty="0"/>
              <a:t>​</a:t>
            </a:r>
          </a:p>
          <a:p>
            <a:pPr fontAlgn="base"/>
            <a:r>
              <a:rPr lang="en-US" i="1" dirty="0"/>
              <a:t>Discuss formative assignments and feedback</a:t>
            </a:r>
            <a:r>
              <a:rPr lang="en-GB" i="1" dirty="0"/>
              <a:t>​</a:t>
            </a:r>
          </a:p>
          <a:p>
            <a:pPr fontAlgn="base"/>
            <a:r>
              <a:rPr lang="en-GB" i="1" dirty="0"/>
              <a:t>Make sure everybody knows where to ask questions or get help.</a:t>
            </a:r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4D9DB702-55E1-0590-1FF2-182B65110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Objectives of the Unit</a:t>
            </a:r>
          </a:p>
        </p:txBody>
      </p:sp>
    </p:spTree>
    <p:extLst>
      <p:ext uri="{BB962C8B-B14F-4D97-AF65-F5344CB8AC3E}">
        <p14:creationId xmlns:p14="http://schemas.microsoft.com/office/powerpoint/2010/main" val="1346952165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9B9B2-7E2B-A10F-6DFE-98AD5D9599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A33F4D3B-9827-ACE4-6B80-2F6F9ECAEBD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Unit 0: Welcome</a:t>
            </a:r>
          </a:p>
        </p:txBody>
      </p:sp>
      <p:sp>
        <p:nvSpPr>
          <p:cNvPr id="6" name="Subtitle 5">
            <a:extLst>
              <a:ext uri="{FF2B5EF4-FFF2-40B4-BE49-F238E27FC236}">
                <a16:creationId xmlns:a16="http://schemas.microsoft.com/office/drawing/2014/main" id="{BEB5F531-6EF3-42C4-8A90-AD7DCBB3CB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0452" y="3467761"/>
            <a:ext cx="5487504" cy="793995"/>
          </a:xfrm>
        </p:spPr>
        <p:txBody>
          <a:bodyPr/>
          <a:lstStyle/>
          <a:p>
            <a:r>
              <a:rPr lang="en-US" dirty="0"/>
              <a:t>IY3501: </a:t>
            </a:r>
            <a:r>
              <a:rPr lang="en-GB" dirty="0"/>
              <a:t>Security Management</a:t>
            </a:r>
            <a:endParaRPr lang="en-US" dirty="0"/>
          </a:p>
          <a:p>
            <a:pPr>
              <a:spcBef>
                <a:spcPts val="500"/>
              </a:spcBef>
            </a:pPr>
            <a:r>
              <a:rPr lang="en-US" dirty="0"/>
              <a:t>Dr Joe Reddington</a:t>
            </a:r>
          </a:p>
        </p:txBody>
      </p:sp>
    </p:spTree>
    <p:extLst>
      <p:ext uri="{BB962C8B-B14F-4D97-AF65-F5344CB8AC3E}">
        <p14:creationId xmlns:p14="http://schemas.microsoft.com/office/powerpoint/2010/main" val="22069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RHUL Primary Colour Palette">
      <a:dk1>
        <a:sysClr val="windowText" lastClr="000000"/>
      </a:dk1>
      <a:lt1>
        <a:sysClr val="window" lastClr="FFFFFF"/>
      </a:lt1>
      <a:dk2>
        <a:srgbClr val="202A30"/>
      </a:dk2>
      <a:lt2>
        <a:srgbClr val="E7E6E6"/>
      </a:lt2>
      <a:accent1>
        <a:srgbClr val="EB641E"/>
      </a:accent1>
      <a:accent2>
        <a:srgbClr val="D72D2D"/>
      </a:accent2>
      <a:accent3>
        <a:srgbClr val="9857AE"/>
      </a:accent3>
      <a:accent4>
        <a:srgbClr val="00A648"/>
      </a:accent4>
      <a:accent5>
        <a:srgbClr val="00A69E"/>
      </a:accent5>
      <a:accent6>
        <a:srgbClr val="009ED7"/>
      </a:accent6>
      <a:hlink>
        <a:srgbClr val="000000"/>
      </a:hlink>
      <a:folHlink>
        <a:srgbClr val="954F72"/>
      </a:folHlink>
    </a:clrScheme>
    <a:fontScheme name="Office 2">
      <a:maj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orbel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tx2"/>
        </a:solidFill>
        <a:ln>
          <a:noFill/>
        </a:ln>
        <a:effectLst/>
      </a:spPr>
      <a:bodyPr rtlCol="0" anchor="ctr"/>
      <a:lstStyle>
        <a:defPPr algn="ctr">
          <a:defRPr/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2546</TotalTime>
  <Words>1181</Words>
  <Application>Microsoft Macintosh PowerPoint</Application>
  <PresentationFormat>On-screen Show (16:9)</PresentationFormat>
  <Paragraphs>203</Paragraphs>
  <Slides>36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5" baseType="lpstr">
      <vt:lpstr>Wingdings</vt:lpstr>
      <vt:lpstr>corbel</vt:lpstr>
      <vt:lpstr>Arial,Sans-Serif</vt:lpstr>
      <vt:lpstr>Arial</vt:lpstr>
      <vt:lpstr>Symbol</vt:lpstr>
      <vt:lpstr>Calibri</vt:lpstr>
      <vt:lpstr>Lucida Grande</vt:lpstr>
      <vt:lpstr>corbel</vt:lpstr>
      <vt:lpstr>Office Theme</vt:lpstr>
      <vt:lpstr>Unit 0: Welcome</vt:lpstr>
      <vt:lpstr>Objectives of the Unit</vt:lpstr>
      <vt:lpstr>Module Content</vt:lpstr>
      <vt:lpstr>Module Statement</vt:lpstr>
      <vt:lpstr>Module Statement</vt:lpstr>
      <vt:lpstr>High-level module overview</vt:lpstr>
      <vt:lpstr>Content</vt:lpstr>
      <vt:lpstr>The 8 units are: </vt:lpstr>
      <vt:lpstr>Content Warning</vt:lpstr>
      <vt:lpstr>Content Warning 2</vt:lpstr>
      <vt:lpstr>Learning Outcomes</vt:lpstr>
      <vt:lpstr>Other Questions we will ask</vt:lpstr>
      <vt:lpstr>Learning Outcomes As Questions</vt:lpstr>
      <vt:lpstr>Module Assessment</vt:lpstr>
      <vt:lpstr>Assessment</vt:lpstr>
      <vt:lpstr>Summative assessment</vt:lpstr>
      <vt:lpstr>Summative assessment</vt:lpstr>
      <vt:lpstr>Summative assessment 2</vt:lpstr>
      <vt:lpstr>Summative assessment and GenAI</vt:lpstr>
      <vt:lpstr>Assessment</vt:lpstr>
      <vt:lpstr>Feedback on formative assignments</vt:lpstr>
      <vt:lpstr>About Me</vt:lpstr>
      <vt:lpstr>About me</vt:lpstr>
      <vt:lpstr>About me that you are interested in.</vt:lpstr>
      <vt:lpstr>Can I talk to Computer Scientists? </vt:lpstr>
      <vt:lpstr>Do I know anything about business?</vt:lpstr>
      <vt:lpstr>Can I teach well? </vt:lpstr>
      <vt:lpstr>Office hours</vt:lpstr>
      <vt:lpstr>Module Culture</vt:lpstr>
      <vt:lpstr>Questions</vt:lpstr>
      <vt:lpstr>Attendance</vt:lpstr>
      <vt:lpstr>Attendance</vt:lpstr>
      <vt:lpstr>Prayer</vt:lpstr>
      <vt:lpstr>Bonus readings</vt:lpstr>
      <vt:lpstr>Objectives of the Unit</vt:lpstr>
      <vt:lpstr>Unit 0: Welcome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Reddington, J</cp:lastModifiedBy>
  <cp:revision>363</cp:revision>
  <cp:lastPrinted>2016-11-21T13:30:10Z</cp:lastPrinted>
  <dcterms:created xsi:type="dcterms:W3CDTF">2013-08-15T13:27:17Z</dcterms:created>
  <dcterms:modified xsi:type="dcterms:W3CDTF">2026-01-16T14:32:55Z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4496a64-e0e3-4038-91bc-493f618853ad_Enabled">
    <vt:lpwstr>true</vt:lpwstr>
  </property>
  <property fmtid="{D5CDD505-2E9C-101B-9397-08002B2CF9AE}" pid="3" name="MSIP_Label_c4496a64-e0e3-4038-91bc-493f618853ad_SetDate">
    <vt:lpwstr>2026-01-16T14:32:55Z</vt:lpwstr>
  </property>
  <property fmtid="{D5CDD505-2E9C-101B-9397-08002B2CF9AE}" pid="4" name="MSIP_Label_c4496a64-e0e3-4038-91bc-493f618853ad_Method">
    <vt:lpwstr>Standard</vt:lpwstr>
  </property>
  <property fmtid="{D5CDD505-2E9C-101B-9397-08002B2CF9AE}" pid="5" name="MSIP_Label_c4496a64-e0e3-4038-91bc-493f618853ad_Name">
    <vt:lpwstr>General</vt:lpwstr>
  </property>
  <property fmtid="{D5CDD505-2E9C-101B-9397-08002B2CF9AE}" pid="6" name="MSIP_Label_c4496a64-e0e3-4038-91bc-493f618853ad_SiteId">
    <vt:lpwstr>2efd699a-1922-4e69-b601-108008d28a2e</vt:lpwstr>
  </property>
  <property fmtid="{D5CDD505-2E9C-101B-9397-08002B2CF9AE}" pid="7" name="MSIP_Label_c4496a64-e0e3-4038-91bc-493f618853ad_ActionId">
    <vt:lpwstr>5394184e-287e-4caa-aa7d-8d35778f81aa</vt:lpwstr>
  </property>
  <property fmtid="{D5CDD505-2E9C-101B-9397-08002B2CF9AE}" pid="8" name="MSIP_Label_c4496a64-e0e3-4038-91bc-493f618853ad_ContentBits">
    <vt:lpwstr>0</vt:lpwstr>
  </property>
  <property fmtid="{D5CDD505-2E9C-101B-9397-08002B2CF9AE}" pid="9" name="MSIP_Label_c4496a64-e0e3-4038-91bc-493f618853ad_Tag">
    <vt:lpwstr>50, 3, 0, 1</vt:lpwstr>
  </property>
</Properties>
</file>